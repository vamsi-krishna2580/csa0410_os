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2"/>
  </p:notesMasterIdLst>
  <p:sldIdLst>
    <p:sldId id="256" r:id="rId2"/>
    <p:sldId id="257" r:id="rId3"/>
    <p:sldId id="258" r:id="rId4"/>
    <p:sldId id="260" r:id="rId5"/>
    <p:sldId id="259" r:id="rId6"/>
    <p:sldId id="261" r:id="rId7"/>
    <p:sldId id="263" r:id="rId8"/>
    <p:sldId id="265" r:id="rId9"/>
    <p:sldId id="266" r:id="rId10"/>
    <p:sldId id="270" r:id="rId1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7F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909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to this technical seminar on the role of the operating system in modern banking infrastructure. Introduce the three pillars we will cover today: the types of operating systems suited to banking, the internal structure of these operating systems, and the critical role system calls play in processing transactions securely and reliably. Mention that banking systems today must serve thousands of concurrent customers across ATMs, mobile apps, internet banking, and branches, and that all of this rests on a carefully engineered operating system foundation. This sets the stage for the rest of the presentation. (Approx. 40-45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customers interact with their bank through many different channels at once: internet banking portals, mobile apps, ATMs, UPI transfers, and physical branches. Each of these generates transactions that must be processed instantly and accurately. To support this, a banking system needs five core qualities: high speed to handle load without lag, reliability so the system never goes down, security to guard against fraud and attacks, scalability to grow with the customer base, and data consistency so account balances are always correct. All five of these qualities are ultimately delivered by the operating system running underneath the banking software. This is why the operating system is often called the backbone of banking infrastructure — every application, database, and network service depends on it for scheduling, memory protection, and secure communication. (Approx. 50-55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operating systems face a unique combination of pressures. They must support thousands of concurrent users accessing accounts at the same instant, while handling massive database operations behind the scenes. Unlike most software, banking systems cannot afford scheduled downtime — they must run continuously, 24 hours a day, 7 days a week. Data consistency is non-negotiable: a transfer must either fully complete or not happen at all, with no partial updates that could corrupt account balances. On top of this, banks are constant targets for security threats such as fraud and cyberattacks, so the operating system must enforce strict protections. Finally, the system needs fault tolerance to keep running through hardware or software failures, and a solid disaster recovery plan to restore service quickly if something does go wrong. Picture thousands of users all connecting at once to a central banking server — that concurrent load is exactly what the operating system is engineered to manage. (Approx. 55-60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connects each banking requirement directly to the operating system capability that satisfies it. When a bank needs to support thousands of users, a multiuser operating system is the answer. When it needs to run multiple applications side by side, multitasking handles that. High performance under load comes from multiprocessing across many CPU cores. Supporting operations across multiple branches requires a distributed operating system that keeps every location synchronized. And where fast, guaranteed response times matter most — such as at an ATM — a real-time operating system is essential. No single capability alone is enough; banks combine all of these within one hybrid operating system environment. (Approx. 45-50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categories of operating system capability come together in a modern banking platform. A multiuser operating system allows thousands of customers to be logged in and transacting at the same moment. A multitasking operating system runs many banking applications concurrently — core banking, fraud detection, notifications, and reporting all at once. Multiprocessing operating systems utilize multiple CPU cores in parallel for faster transaction throughput. Distributed operating systems connect multiple servers and branches into one coordinated system, so a transaction at one branch is instantly visible everywhere. And real-time operating systems are used in latency-sensitive devices like ATMs, payment gateways, and point-of-sale terminals, where a response must arrive within a guaranteed time window. In practice, a real banking OS blends all five of these capabilities rather than relying on just one. (Approx. 55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operating system level, banking infrastructure most commonly runs on Linux, UNIX, or Windows Server, chosen for their stability and enterprise support. These operating systems typically use a hybrid kernel architecture, which combines the raw performance of a monolithic kernel with the modularity and fault isolation of a microkernel design. You can see this structure as a set of layers: user applications sit at the top — the banking software customers and staff interact with. Below that is the system call interface, the gateway through which applications request services. The kernel itself manages processes, memory, files, networking, and security. Device drivers translate kernel requests into instructions for physical hardware. And at the base sits the hardware itself — CPU, memory, storage, and network interfaces. Each layer only talks to the one directly next to it, which keeps the system organized, secure, and easier to maintain. (Approx. 55-60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management is one of the most critical jobs the kernel performs in a banking environment. Every incoming banking request results in process creation — a new process, or thread, is spawned to handle it. The CPU scheduler then fairly allocates processor time across all active processes, while context switching rapidly moves the CPU between them so that, from a user perspective, everything feels instantaneous and parallel. Synchronization mechanisms coordinate access to shared resources like account records, preventing two processes from corrupting the same data at once. And deadlock prevention strategies ensure that processes waiting on each other for resources never get stuck in a permanent standstill. On the right, you can see a concrete example: Customer A is transferring money, Customer B is checking their balance, and Customer C is depositing funds — all three are handled as separate, isolated processes running at effectively the same time. (Approx. 55-60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call is the only sanctioned path a banking application has to reach the operating system kernel and, through it, the hardware. This matters enormously for security and stability: applications are never given direct access to memory, disks, or the network — every request must pass through this controlled interface. The flow is simple: the application issues a request, that request is translated into a system call, the kernel validates and executes it, and finally the hardware carries out the operation. Common system calls used in banking software include open, read, write, and close for database and file access; fork and exec for creating and running processes; and socket, send, and receive for network communication between banking servers and channels like ATMs or mobile apps. Every single transaction a bank processes is, underneath the surface, a carefully ordered sequence of these system calls. (Approx. 55-60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a single transaction end to end. It begins with the customer initiating a request — say, a fund transfer. The banking application captures and validates this request, then issues a precise sequence of system calls: open to connect to the database, read to fetch account details, write to update the balance, send and receive to communicate across the network if another branch or bank is involved, and finally close to release the connection. The operating system executes each of these calls securely through the kernel, enforcing permissions and protecting other transactions from interference throughout. In detail, the steps are: open the database connection, read the account details and current balance, verify that the balance and transaction are valid, update the database with the new balance, commit the transaction so it becomes permanent, and close the connection to free up resources. Only once all of these steps succeed does the system report that the database has been updated successfully — this atomic, all-or-nothing behavior is what keeps banking data trustworthy. (Approx. 60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have seen that banking systems require a blend of multiuser, multitasking, multiprocessing, distributed, and real-time operating system capabilities working together, not any single one in isolation. The hybrid kernel architecture is what delivers the performance, security, and scalability that banking demands at scale. System calls serve as the secure, controlled bridge between banking applications and the operating system, ensuring every operation is validated and safe. And ultimately, an efficient, well-architected operating system is what guarantees fast, reliable, and secure transaction processing for every single customer, every single time — whether they are at an ATM, on their mobile app, or at a branch counter. The operating system may be invisible to the customer, but it is the true backbone that makes modern banking possible. Thank you for your attention, and I am happy to take any questions. (Approx. 45-50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31379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471383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2336755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9362678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414433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167531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20088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0404029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610526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0048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718703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600107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636609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703404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3955455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3674155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347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7/21/2026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5874562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9.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26.png"/><Relationship Id="rId5" Type="http://schemas.openxmlformats.org/officeDocument/2006/relationships/image" Target="../media/image18.pn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29.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4" name="Shape 2"/>
          <p:cNvSpPr/>
          <p:nvPr/>
        </p:nvSpPr>
        <p:spPr>
          <a:xfrm>
            <a:off x="0" y="0"/>
            <a:ext cx="12188952" cy="82296"/>
          </a:xfrm>
          <a:prstGeom prst="rect">
            <a:avLst/>
          </a:prstGeom>
          <a:solidFill>
            <a:srgbClr val="00B4D8"/>
          </a:solidFill>
          <a:ln/>
        </p:spPr>
      </p:sp>
      <p:pic>
        <p:nvPicPr>
          <p:cNvPr id="5" name="Image 0" descr="/home/claude/banking_os/icons/university.png"/>
          <p:cNvPicPr>
            <a:picLocks noChangeAspect="1"/>
          </p:cNvPicPr>
          <p:nvPr/>
        </p:nvPicPr>
        <p:blipFill>
          <a:blip r:embed="rId3"/>
          <a:stretch>
            <a:fillRect/>
          </a:stretch>
        </p:blipFill>
        <p:spPr>
          <a:xfrm>
            <a:off x="594360" y="502920"/>
            <a:ext cx="457200" cy="457200"/>
          </a:xfrm>
          <a:prstGeom prst="rect">
            <a:avLst/>
          </a:prstGeom>
        </p:spPr>
      </p:pic>
      <p:sp>
        <p:nvSpPr>
          <p:cNvPr id="6" name="Text 3"/>
          <p:cNvSpPr/>
          <p:nvPr/>
        </p:nvSpPr>
        <p:spPr>
          <a:xfrm>
            <a:off x="1143000" y="502920"/>
            <a:ext cx="7315200" cy="457200"/>
          </a:xfrm>
          <a:prstGeom prst="rect">
            <a:avLst/>
          </a:prstGeom>
          <a:noFill/>
          <a:ln/>
        </p:spPr>
        <p:txBody>
          <a:bodyPr wrap="square" rtlCol="0" anchor="ctr"/>
          <a:lstStyle/>
          <a:p>
            <a:pPr marL="0" indent="0">
              <a:buNone/>
            </a:pPr>
            <a:r>
              <a:rPr lang="en-US" sz="1300" b="1" kern="0" spc="200" dirty="0">
                <a:latin typeface="Calibri" pitchFamily="34" charset="0"/>
                <a:ea typeface="Calibri" pitchFamily="34" charset="-122"/>
                <a:cs typeface="Calibri" pitchFamily="34" charset="-120"/>
              </a:rPr>
              <a:t>BANKING TECHNOLOGY  ·  TECHNICAL PRESENTATION</a:t>
            </a:r>
            <a:endParaRPr lang="en-US" sz="1300" dirty="0"/>
          </a:p>
        </p:txBody>
      </p:sp>
      <p:sp>
        <p:nvSpPr>
          <p:cNvPr id="7" name="Text 4"/>
          <p:cNvSpPr/>
          <p:nvPr/>
        </p:nvSpPr>
        <p:spPr>
          <a:xfrm>
            <a:off x="594360" y="1965960"/>
            <a:ext cx="9509760" cy="1920240"/>
          </a:xfrm>
          <a:prstGeom prst="rect">
            <a:avLst/>
          </a:prstGeom>
          <a:noFill/>
          <a:ln/>
        </p:spPr>
        <p:txBody>
          <a:bodyPr wrap="square" rtlCol="0" anchor="t"/>
          <a:lstStyle/>
          <a:p>
            <a:pPr marL="0" indent="0">
              <a:lnSpc>
                <a:spcPct val="108000"/>
              </a:lnSpc>
              <a:buNone/>
            </a:pPr>
            <a:r>
              <a:rPr lang="en-US" sz="3600" b="1" dirty="0">
                <a:latin typeface="Calibri" pitchFamily="34" charset="0"/>
                <a:ea typeface="Calibri" pitchFamily="34" charset="-122"/>
                <a:cs typeface="Calibri" pitchFamily="34" charset="-120"/>
              </a:rPr>
              <a:t>Operating System for Banking Systems Handling Thousands of Transactions Simultaneously</a:t>
            </a:r>
            <a:endParaRPr lang="en-US" sz="3600" dirty="0"/>
          </a:p>
        </p:txBody>
      </p:sp>
      <p:sp>
        <p:nvSpPr>
          <p:cNvPr id="8" name="Shape 5"/>
          <p:cNvSpPr/>
          <p:nvPr/>
        </p:nvSpPr>
        <p:spPr>
          <a:xfrm>
            <a:off x="621792" y="3977640"/>
            <a:ext cx="2103120" cy="36576"/>
          </a:xfrm>
          <a:prstGeom prst="rect">
            <a:avLst/>
          </a:prstGeom>
          <a:solidFill>
            <a:srgbClr val="00B4D8"/>
          </a:solidFill>
          <a:ln/>
        </p:spPr>
      </p:sp>
      <p:sp>
        <p:nvSpPr>
          <p:cNvPr id="9" name="Text 6"/>
          <p:cNvSpPr/>
          <p:nvPr/>
        </p:nvSpPr>
        <p:spPr>
          <a:xfrm>
            <a:off x="621792" y="4160520"/>
            <a:ext cx="7315200" cy="36576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  </a:t>
            </a:r>
            <a:r>
              <a:rPr lang="en-US" sz="1600" dirty="0">
                <a:latin typeface="Calibri" pitchFamily="34" charset="0"/>
                <a:ea typeface="Calibri" pitchFamily="34" charset="-122"/>
                <a:cs typeface="Calibri" pitchFamily="34" charset="-120"/>
              </a:rPr>
              <a:t>Types of Operating Systems</a:t>
            </a:r>
            <a:endParaRPr lang="en-US" sz="1600" dirty="0"/>
          </a:p>
        </p:txBody>
      </p:sp>
      <p:sp>
        <p:nvSpPr>
          <p:cNvPr id="10" name="Text 7"/>
          <p:cNvSpPr/>
          <p:nvPr/>
        </p:nvSpPr>
        <p:spPr>
          <a:xfrm>
            <a:off x="621792" y="4544568"/>
            <a:ext cx="7315200" cy="36576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  </a:t>
            </a:r>
            <a:r>
              <a:rPr lang="en-US" sz="1600" dirty="0">
                <a:latin typeface="Calibri" pitchFamily="34" charset="0"/>
                <a:ea typeface="Calibri" pitchFamily="34" charset="-122"/>
                <a:cs typeface="Calibri" pitchFamily="34" charset="-120"/>
              </a:rPr>
              <a:t>Operating System Structure</a:t>
            </a:r>
            <a:endParaRPr lang="en-US" sz="1600" dirty="0"/>
          </a:p>
        </p:txBody>
      </p:sp>
      <p:sp>
        <p:nvSpPr>
          <p:cNvPr id="11" name="Text 8"/>
          <p:cNvSpPr/>
          <p:nvPr/>
        </p:nvSpPr>
        <p:spPr>
          <a:xfrm>
            <a:off x="621792" y="4928616"/>
            <a:ext cx="7315200" cy="365760"/>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  </a:t>
            </a:r>
            <a:r>
              <a:rPr lang="en-US" sz="1600" dirty="0">
                <a:latin typeface="Calibri" pitchFamily="34" charset="0"/>
                <a:ea typeface="Calibri" pitchFamily="34" charset="-122"/>
                <a:cs typeface="Calibri" pitchFamily="34" charset="-120"/>
              </a:rPr>
              <a:t>Role of System Calls in Transaction Processing</a:t>
            </a:r>
            <a:endParaRPr lang="en-US" sz="1600" dirty="0"/>
          </a:p>
        </p:txBody>
      </p:sp>
      <p:sp>
        <p:nvSpPr>
          <p:cNvPr id="12" name="Shape 9"/>
          <p:cNvSpPr/>
          <p:nvPr/>
        </p:nvSpPr>
        <p:spPr>
          <a:xfrm>
            <a:off x="594360" y="5623560"/>
            <a:ext cx="11018520" cy="960120"/>
          </a:xfrm>
          <a:prstGeom prst="roundRect">
            <a:avLst>
              <a:gd name="adj" fmla="val 7619"/>
            </a:avLst>
          </a:prstGeom>
          <a:solidFill>
            <a:srgbClr val="182156"/>
          </a:solidFill>
          <a:ln w="12700">
            <a:solidFill>
              <a:srgbClr val="3A4590"/>
            </a:solidFill>
            <a:prstDash val="solid"/>
          </a:ln>
        </p:spPr>
      </p:sp>
      <p:sp>
        <p:nvSpPr>
          <p:cNvPr id="13" name="Text 10"/>
          <p:cNvSpPr/>
          <p:nvPr/>
        </p:nvSpPr>
        <p:spPr>
          <a:xfrm>
            <a:off x="868680" y="5779008"/>
            <a:ext cx="2468880" cy="256032"/>
          </a:xfrm>
          <a:prstGeom prst="rect">
            <a:avLst/>
          </a:prstGeom>
          <a:noFill/>
          <a:ln/>
        </p:spPr>
        <p:txBody>
          <a:bodyPr wrap="square" rtlCol="0" anchor="ctr"/>
          <a:lstStyle/>
          <a:p>
            <a:pPr marL="0" indent="0">
              <a:buNone/>
            </a:pPr>
            <a:r>
              <a:rPr lang="en-US" sz="1000" b="1" kern="0" spc="100" dirty="0">
                <a:solidFill>
                  <a:srgbClr val="00B4D8"/>
                </a:solidFill>
                <a:latin typeface="Calibri" pitchFamily="34" charset="0"/>
                <a:ea typeface="Calibri" pitchFamily="34" charset="-122"/>
                <a:cs typeface="Calibri" pitchFamily="34" charset="-120"/>
              </a:rPr>
              <a:t>STUDENT NAME</a:t>
            </a:r>
            <a:endParaRPr lang="en-US" sz="1000" dirty="0"/>
          </a:p>
        </p:txBody>
      </p:sp>
      <p:sp>
        <p:nvSpPr>
          <p:cNvPr id="14" name="Text 11"/>
          <p:cNvSpPr/>
          <p:nvPr/>
        </p:nvSpPr>
        <p:spPr>
          <a:xfrm>
            <a:off x="868680" y="6035040"/>
            <a:ext cx="24688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 Vamsi Krishna</a:t>
            </a:r>
            <a:endParaRPr lang="en-US" sz="1300" dirty="0"/>
          </a:p>
        </p:txBody>
      </p:sp>
      <p:sp>
        <p:nvSpPr>
          <p:cNvPr id="15" name="Text 12"/>
          <p:cNvSpPr/>
          <p:nvPr/>
        </p:nvSpPr>
        <p:spPr>
          <a:xfrm>
            <a:off x="3474720" y="5779008"/>
            <a:ext cx="2468880" cy="256032"/>
          </a:xfrm>
          <a:prstGeom prst="rect">
            <a:avLst/>
          </a:prstGeom>
          <a:noFill/>
          <a:ln/>
        </p:spPr>
        <p:txBody>
          <a:bodyPr wrap="square" rtlCol="0" anchor="ctr"/>
          <a:lstStyle/>
          <a:p>
            <a:pPr marL="0" indent="0">
              <a:buNone/>
            </a:pPr>
            <a:r>
              <a:rPr lang="en-US" sz="1000" b="1" kern="0" spc="100" dirty="0">
                <a:solidFill>
                  <a:srgbClr val="00B4D8"/>
                </a:solidFill>
                <a:latin typeface="Calibri" pitchFamily="34" charset="0"/>
                <a:ea typeface="Calibri" pitchFamily="34" charset="-122"/>
                <a:cs typeface="Calibri" pitchFamily="34" charset="-120"/>
              </a:rPr>
              <a:t>REGISTER NUMBER</a:t>
            </a:r>
            <a:endParaRPr lang="en-US" sz="1000" dirty="0"/>
          </a:p>
        </p:txBody>
      </p:sp>
      <p:sp>
        <p:nvSpPr>
          <p:cNvPr id="16" name="Text 13"/>
          <p:cNvSpPr/>
          <p:nvPr/>
        </p:nvSpPr>
        <p:spPr>
          <a:xfrm>
            <a:off x="3474720" y="6035040"/>
            <a:ext cx="24688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192472011</a:t>
            </a:r>
            <a:endParaRPr lang="en-US" sz="1300" dirty="0"/>
          </a:p>
        </p:txBody>
      </p:sp>
      <p:sp>
        <p:nvSpPr>
          <p:cNvPr id="17" name="Text 14"/>
          <p:cNvSpPr/>
          <p:nvPr/>
        </p:nvSpPr>
        <p:spPr>
          <a:xfrm>
            <a:off x="6080760" y="5779008"/>
            <a:ext cx="2468880" cy="256032"/>
          </a:xfrm>
          <a:prstGeom prst="rect">
            <a:avLst/>
          </a:prstGeom>
          <a:noFill/>
          <a:ln/>
        </p:spPr>
        <p:txBody>
          <a:bodyPr wrap="square" rtlCol="0" anchor="ctr"/>
          <a:lstStyle/>
          <a:p>
            <a:pPr marL="0" indent="0">
              <a:buNone/>
            </a:pPr>
            <a:r>
              <a:rPr lang="en-US" sz="1000" b="1" kern="0" spc="100" dirty="0">
                <a:solidFill>
                  <a:srgbClr val="00B4D8"/>
                </a:solidFill>
                <a:latin typeface="Calibri" pitchFamily="34" charset="0"/>
                <a:ea typeface="Calibri" pitchFamily="34" charset="-122"/>
                <a:cs typeface="Calibri" pitchFamily="34" charset="-120"/>
              </a:rPr>
              <a:t>DEPARTMENT</a:t>
            </a:r>
            <a:endParaRPr lang="en-US" sz="1000" dirty="0"/>
          </a:p>
        </p:txBody>
      </p:sp>
      <p:sp>
        <p:nvSpPr>
          <p:cNvPr id="18" name="Text 15"/>
          <p:cNvSpPr/>
          <p:nvPr/>
        </p:nvSpPr>
        <p:spPr>
          <a:xfrm>
            <a:off x="6080760" y="6035040"/>
            <a:ext cx="24688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Computer Science &amp; Engineering</a:t>
            </a:r>
            <a:endParaRPr lang="en-US" sz="1300" dirty="0"/>
          </a:p>
        </p:txBody>
      </p:sp>
      <p:sp>
        <p:nvSpPr>
          <p:cNvPr id="19" name="Text 16"/>
          <p:cNvSpPr/>
          <p:nvPr/>
        </p:nvSpPr>
        <p:spPr>
          <a:xfrm>
            <a:off x="8686800" y="5779008"/>
            <a:ext cx="2468880" cy="256032"/>
          </a:xfrm>
          <a:prstGeom prst="rect">
            <a:avLst/>
          </a:prstGeom>
          <a:noFill/>
          <a:ln/>
        </p:spPr>
        <p:txBody>
          <a:bodyPr wrap="square" rtlCol="0" anchor="ctr"/>
          <a:lstStyle/>
          <a:p>
            <a:pPr marL="0" indent="0">
              <a:buNone/>
            </a:pPr>
            <a:r>
              <a:rPr lang="en-US" sz="1000" b="1" kern="0" spc="100" dirty="0">
                <a:solidFill>
                  <a:srgbClr val="00B4D8"/>
                </a:solidFill>
                <a:latin typeface="Calibri" pitchFamily="34" charset="0"/>
                <a:ea typeface="Calibri" pitchFamily="34" charset="-122"/>
                <a:cs typeface="Calibri" pitchFamily="34" charset="-120"/>
              </a:rPr>
              <a:t>COLLEGE</a:t>
            </a:r>
            <a:endParaRPr lang="en-US" sz="1000" dirty="0"/>
          </a:p>
        </p:txBody>
      </p:sp>
      <p:sp>
        <p:nvSpPr>
          <p:cNvPr id="20" name="Text 17"/>
          <p:cNvSpPr/>
          <p:nvPr/>
        </p:nvSpPr>
        <p:spPr>
          <a:xfrm>
            <a:off x="8686800" y="6035040"/>
            <a:ext cx="24688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SIMATS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600" b="1" kern="0" spc="200" dirty="0">
                <a:solidFill>
                  <a:srgbClr val="00B4D8"/>
                </a:solidFill>
                <a:latin typeface="Calibri" pitchFamily="34" charset="0"/>
                <a:ea typeface="Calibri" pitchFamily="34" charset="-122"/>
                <a:cs typeface="Calibri" pitchFamily="34" charset="-120"/>
              </a:rPr>
              <a:t>OVERVIEW</a:t>
            </a:r>
            <a:endParaRPr lang="en-US" sz="16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Introduction</a:t>
            </a:r>
            <a:endParaRPr lang="en-US" sz="16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600" dirty="0">
                <a:solidFill>
                  <a:srgbClr val="5A6472"/>
                </a:solidFill>
                <a:latin typeface="Calibri" pitchFamily="34" charset="0"/>
                <a:ea typeface="Calibri" pitchFamily="34" charset="-122"/>
                <a:cs typeface="Calibri" pitchFamily="34" charset="-120"/>
              </a:rPr>
              <a:t>02</a:t>
            </a:r>
            <a:endParaRPr lang="en-US" sz="1600" dirty="0"/>
          </a:p>
        </p:txBody>
      </p:sp>
      <p:sp>
        <p:nvSpPr>
          <p:cNvPr id="5" name="Text 3"/>
          <p:cNvSpPr/>
          <p:nvPr/>
        </p:nvSpPr>
        <p:spPr>
          <a:xfrm>
            <a:off x="533338" y="1350513"/>
            <a:ext cx="5212080" cy="1188720"/>
          </a:xfrm>
          <a:prstGeom prst="rect">
            <a:avLst/>
          </a:prstGeom>
          <a:noFill/>
          <a:ln/>
        </p:spPr>
        <p:txBody>
          <a:bodyPr wrap="square" rtlCol="0" anchor="t"/>
          <a:lstStyle/>
          <a:p>
            <a:pPr marL="0" indent="0">
              <a:lnSpc>
                <a:spcPct val="125000"/>
              </a:lnSpc>
              <a:buNone/>
            </a:pPr>
            <a:r>
              <a:rPr lang="en-US" sz="1600" dirty="0">
                <a:solidFill>
                  <a:srgbClr val="1B1B2F"/>
                </a:solidFill>
                <a:latin typeface="Calibri" pitchFamily="34" charset="0"/>
                <a:ea typeface="Calibri" pitchFamily="34" charset="-122"/>
                <a:cs typeface="Calibri" pitchFamily="34" charset="-120"/>
              </a:rPr>
              <a:t>Modern banks process thousands of simultaneous transactions across multiple digital and physical channels. The operating system is the invisible engine coordinating all of it.</a:t>
            </a:r>
            <a:endParaRPr lang="en-US" sz="1600" dirty="0"/>
          </a:p>
        </p:txBody>
      </p:sp>
      <p:sp>
        <p:nvSpPr>
          <p:cNvPr id="6" name="Text 4"/>
          <p:cNvSpPr/>
          <p:nvPr/>
        </p:nvSpPr>
        <p:spPr>
          <a:xfrm>
            <a:off x="548640" y="2788920"/>
            <a:ext cx="4572000" cy="292608"/>
          </a:xfrm>
          <a:prstGeom prst="rect">
            <a:avLst/>
          </a:prstGeom>
          <a:noFill/>
          <a:ln/>
        </p:spPr>
        <p:txBody>
          <a:bodyPr wrap="square"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TRANSACTION CHANNELS</a:t>
            </a:r>
            <a:endParaRPr lang="en-US" sz="1600" dirty="0"/>
          </a:p>
        </p:txBody>
      </p:sp>
      <p:sp>
        <p:nvSpPr>
          <p:cNvPr id="7" name="Shape 5"/>
          <p:cNvSpPr/>
          <p:nvPr/>
        </p:nvSpPr>
        <p:spPr>
          <a:xfrm>
            <a:off x="548640" y="3154680"/>
            <a:ext cx="5212080" cy="457200"/>
          </a:xfrm>
          <a:prstGeom prst="roundRect">
            <a:avLst>
              <a:gd name="adj" fmla="val 14000"/>
            </a:avLst>
          </a:prstGeom>
          <a:solidFill>
            <a:srgbClr val="F4F7FC"/>
          </a:solidFill>
          <a:ln/>
        </p:spPr>
      </p:sp>
      <p:sp>
        <p:nvSpPr>
          <p:cNvPr id="8" name="Shape 6"/>
          <p:cNvSpPr/>
          <p:nvPr/>
        </p:nvSpPr>
        <p:spPr>
          <a:xfrm>
            <a:off x="658368" y="3209544"/>
            <a:ext cx="347472" cy="347472"/>
          </a:xfrm>
          <a:prstGeom prst="ellipse">
            <a:avLst/>
          </a:prstGeom>
          <a:solidFill>
            <a:srgbClr val="1E2761"/>
          </a:solidFill>
          <a:ln/>
        </p:spPr>
      </p:sp>
      <p:pic>
        <p:nvPicPr>
          <p:cNvPr id="9" name="Image 0" descr="/home/claude/banking_os/icons/globe.png"/>
          <p:cNvPicPr>
            <a:picLocks noChangeAspect="1"/>
          </p:cNvPicPr>
          <p:nvPr/>
        </p:nvPicPr>
        <p:blipFill>
          <a:blip r:embed="rId3"/>
          <a:stretch>
            <a:fillRect/>
          </a:stretch>
        </p:blipFill>
        <p:spPr>
          <a:xfrm>
            <a:off x="736549" y="3287725"/>
            <a:ext cx="191110" cy="191110"/>
          </a:xfrm>
          <a:prstGeom prst="rect">
            <a:avLst/>
          </a:prstGeom>
        </p:spPr>
      </p:pic>
      <p:sp>
        <p:nvSpPr>
          <p:cNvPr id="10" name="Text 7"/>
          <p:cNvSpPr/>
          <p:nvPr/>
        </p:nvSpPr>
        <p:spPr>
          <a:xfrm>
            <a:off x="1188720" y="3154680"/>
            <a:ext cx="4389120" cy="45720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Internet Banking</a:t>
            </a:r>
            <a:endParaRPr lang="en-US" sz="1600" dirty="0"/>
          </a:p>
        </p:txBody>
      </p:sp>
      <p:sp>
        <p:nvSpPr>
          <p:cNvPr id="11" name="Shape 8"/>
          <p:cNvSpPr/>
          <p:nvPr/>
        </p:nvSpPr>
        <p:spPr>
          <a:xfrm>
            <a:off x="548640" y="3721608"/>
            <a:ext cx="5212080" cy="457200"/>
          </a:xfrm>
          <a:prstGeom prst="roundRect">
            <a:avLst>
              <a:gd name="adj" fmla="val 14000"/>
            </a:avLst>
          </a:prstGeom>
          <a:solidFill>
            <a:srgbClr val="F4F7FC"/>
          </a:solidFill>
          <a:ln/>
        </p:spPr>
      </p:sp>
      <p:sp>
        <p:nvSpPr>
          <p:cNvPr id="12" name="Shape 9"/>
          <p:cNvSpPr/>
          <p:nvPr/>
        </p:nvSpPr>
        <p:spPr>
          <a:xfrm>
            <a:off x="658368" y="3776472"/>
            <a:ext cx="347472" cy="347472"/>
          </a:xfrm>
          <a:prstGeom prst="ellipse">
            <a:avLst/>
          </a:prstGeom>
          <a:solidFill>
            <a:srgbClr val="1E2761"/>
          </a:solidFill>
          <a:ln/>
        </p:spPr>
      </p:sp>
      <p:pic>
        <p:nvPicPr>
          <p:cNvPr id="13" name="Image 1" descr="/home/claude/banking_os/icons/mobile.png"/>
          <p:cNvPicPr>
            <a:picLocks noChangeAspect="1"/>
          </p:cNvPicPr>
          <p:nvPr/>
        </p:nvPicPr>
        <p:blipFill>
          <a:blip r:embed="rId4"/>
          <a:stretch>
            <a:fillRect/>
          </a:stretch>
        </p:blipFill>
        <p:spPr>
          <a:xfrm>
            <a:off x="736549" y="3854653"/>
            <a:ext cx="191110" cy="191110"/>
          </a:xfrm>
          <a:prstGeom prst="rect">
            <a:avLst/>
          </a:prstGeom>
        </p:spPr>
      </p:pic>
      <p:sp>
        <p:nvSpPr>
          <p:cNvPr id="14" name="Text 10"/>
          <p:cNvSpPr/>
          <p:nvPr/>
        </p:nvSpPr>
        <p:spPr>
          <a:xfrm>
            <a:off x="1188720" y="3721608"/>
            <a:ext cx="4389120" cy="45720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Mobile Banking</a:t>
            </a:r>
            <a:endParaRPr lang="en-US" sz="1600" dirty="0"/>
          </a:p>
        </p:txBody>
      </p:sp>
      <p:sp>
        <p:nvSpPr>
          <p:cNvPr id="15" name="Shape 11"/>
          <p:cNvSpPr/>
          <p:nvPr/>
        </p:nvSpPr>
        <p:spPr>
          <a:xfrm>
            <a:off x="548640" y="4288536"/>
            <a:ext cx="5212080" cy="457200"/>
          </a:xfrm>
          <a:prstGeom prst="roundRect">
            <a:avLst>
              <a:gd name="adj" fmla="val 14000"/>
            </a:avLst>
          </a:prstGeom>
          <a:solidFill>
            <a:srgbClr val="F4F7FC"/>
          </a:solidFill>
          <a:ln/>
        </p:spPr>
      </p:sp>
      <p:sp>
        <p:nvSpPr>
          <p:cNvPr id="16" name="Shape 12"/>
          <p:cNvSpPr/>
          <p:nvPr/>
        </p:nvSpPr>
        <p:spPr>
          <a:xfrm>
            <a:off x="658368" y="4343400"/>
            <a:ext cx="347472" cy="347472"/>
          </a:xfrm>
          <a:prstGeom prst="ellipse">
            <a:avLst/>
          </a:prstGeom>
          <a:solidFill>
            <a:srgbClr val="1E2761"/>
          </a:solidFill>
          <a:ln/>
        </p:spPr>
      </p:sp>
      <p:pic>
        <p:nvPicPr>
          <p:cNvPr id="17" name="Image 2" descr="/home/claude/banking_os/icons/atm.png"/>
          <p:cNvPicPr>
            <a:picLocks noChangeAspect="1"/>
          </p:cNvPicPr>
          <p:nvPr/>
        </p:nvPicPr>
        <p:blipFill>
          <a:blip r:embed="rId5"/>
          <a:stretch>
            <a:fillRect/>
          </a:stretch>
        </p:blipFill>
        <p:spPr>
          <a:xfrm>
            <a:off x="736549" y="4421581"/>
            <a:ext cx="191110" cy="191110"/>
          </a:xfrm>
          <a:prstGeom prst="rect">
            <a:avLst/>
          </a:prstGeom>
        </p:spPr>
      </p:pic>
      <p:sp>
        <p:nvSpPr>
          <p:cNvPr id="18" name="Text 13"/>
          <p:cNvSpPr/>
          <p:nvPr/>
        </p:nvSpPr>
        <p:spPr>
          <a:xfrm>
            <a:off x="1188720" y="4288536"/>
            <a:ext cx="4389120" cy="45720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ATMs</a:t>
            </a:r>
            <a:endParaRPr lang="en-US" sz="1600" dirty="0"/>
          </a:p>
        </p:txBody>
      </p:sp>
      <p:sp>
        <p:nvSpPr>
          <p:cNvPr id="19" name="Shape 14"/>
          <p:cNvSpPr/>
          <p:nvPr/>
        </p:nvSpPr>
        <p:spPr>
          <a:xfrm>
            <a:off x="548640" y="4855464"/>
            <a:ext cx="5212080" cy="457200"/>
          </a:xfrm>
          <a:prstGeom prst="roundRect">
            <a:avLst>
              <a:gd name="adj" fmla="val 14000"/>
            </a:avLst>
          </a:prstGeom>
          <a:solidFill>
            <a:srgbClr val="F4F7FC"/>
          </a:solidFill>
          <a:ln/>
        </p:spPr>
      </p:sp>
      <p:sp>
        <p:nvSpPr>
          <p:cNvPr id="20" name="Shape 15"/>
          <p:cNvSpPr/>
          <p:nvPr/>
        </p:nvSpPr>
        <p:spPr>
          <a:xfrm>
            <a:off x="658368" y="4910328"/>
            <a:ext cx="347472" cy="347472"/>
          </a:xfrm>
          <a:prstGeom prst="ellipse">
            <a:avLst/>
          </a:prstGeom>
          <a:solidFill>
            <a:srgbClr val="1E2761"/>
          </a:solidFill>
          <a:ln/>
        </p:spPr>
      </p:sp>
      <p:pic>
        <p:nvPicPr>
          <p:cNvPr id="21" name="Image 3" descr="/home/claude/banking_os/icons/exchange.png"/>
          <p:cNvPicPr>
            <a:picLocks noChangeAspect="1"/>
          </p:cNvPicPr>
          <p:nvPr/>
        </p:nvPicPr>
        <p:blipFill>
          <a:blip r:embed="rId6"/>
          <a:stretch>
            <a:fillRect/>
          </a:stretch>
        </p:blipFill>
        <p:spPr>
          <a:xfrm>
            <a:off x="736549" y="4988509"/>
            <a:ext cx="191110" cy="191110"/>
          </a:xfrm>
          <a:prstGeom prst="rect">
            <a:avLst/>
          </a:prstGeom>
        </p:spPr>
      </p:pic>
      <p:sp>
        <p:nvSpPr>
          <p:cNvPr id="22" name="Text 16"/>
          <p:cNvSpPr/>
          <p:nvPr/>
        </p:nvSpPr>
        <p:spPr>
          <a:xfrm>
            <a:off x="1188720" y="4855464"/>
            <a:ext cx="4389120" cy="45720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UPI Payments</a:t>
            </a:r>
            <a:endParaRPr lang="en-US" sz="1600" dirty="0"/>
          </a:p>
        </p:txBody>
      </p:sp>
      <p:sp>
        <p:nvSpPr>
          <p:cNvPr id="23" name="Shape 17"/>
          <p:cNvSpPr/>
          <p:nvPr/>
        </p:nvSpPr>
        <p:spPr>
          <a:xfrm>
            <a:off x="548640" y="5422392"/>
            <a:ext cx="5212080" cy="457200"/>
          </a:xfrm>
          <a:prstGeom prst="roundRect">
            <a:avLst>
              <a:gd name="adj" fmla="val 14000"/>
            </a:avLst>
          </a:prstGeom>
          <a:solidFill>
            <a:srgbClr val="F4F7FC"/>
          </a:solidFill>
          <a:ln/>
        </p:spPr>
      </p:sp>
      <p:sp>
        <p:nvSpPr>
          <p:cNvPr id="24" name="Shape 18"/>
          <p:cNvSpPr/>
          <p:nvPr/>
        </p:nvSpPr>
        <p:spPr>
          <a:xfrm>
            <a:off x="658368" y="5477256"/>
            <a:ext cx="347472" cy="347472"/>
          </a:xfrm>
          <a:prstGeom prst="ellipse">
            <a:avLst/>
          </a:prstGeom>
          <a:solidFill>
            <a:srgbClr val="1E2761"/>
          </a:solidFill>
          <a:ln/>
        </p:spPr>
      </p:sp>
      <p:pic>
        <p:nvPicPr>
          <p:cNvPr id="25" name="Image 4" descr="/home/claude/banking_os/icons/branch.png"/>
          <p:cNvPicPr>
            <a:picLocks noChangeAspect="1"/>
          </p:cNvPicPr>
          <p:nvPr/>
        </p:nvPicPr>
        <p:blipFill>
          <a:blip r:embed="rId7"/>
          <a:stretch>
            <a:fillRect/>
          </a:stretch>
        </p:blipFill>
        <p:spPr>
          <a:xfrm>
            <a:off x="736549" y="5555437"/>
            <a:ext cx="191110" cy="191110"/>
          </a:xfrm>
          <a:prstGeom prst="rect">
            <a:avLst/>
          </a:prstGeom>
        </p:spPr>
      </p:pic>
      <p:sp>
        <p:nvSpPr>
          <p:cNvPr id="26" name="Text 19"/>
          <p:cNvSpPr/>
          <p:nvPr/>
        </p:nvSpPr>
        <p:spPr>
          <a:xfrm>
            <a:off x="1188720" y="5422392"/>
            <a:ext cx="4389120" cy="45720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Branch Banking</a:t>
            </a:r>
            <a:endParaRPr lang="en-US" sz="1600" dirty="0"/>
          </a:p>
        </p:txBody>
      </p:sp>
      <p:sp>
        <p:nvSpPr>
          <p:cNvPr id="27" name="Shape 20"/>
          <p:cNvSpPr/>
          <p:nvPr/>
        </p:nvSpPr>
        <p:spPr>
          <a:xfrm>
            <a:off x="6313932" y="384048"/>
            <a:ext cx="5440680" cy="6099048"/>
          </a:xfrm>
          <a:prstGeom prst="roundRect">
            <a:avLst>
              <a:gd name="adj" fmla="val 1869"/>
            </a:avLst>
          </a:prstGeom>
          <a:solidFill>
            <a:srgbClr val="1E2761"/>
          </a:solidFill>
          <a:ln/>
        </p:spPr>
      </p:sp>
      <p:sp>
        <p:nvSpPr>
          <p:cNvPr id="28" name="Text 21"/>
          <p:cNvSpPr/>
          <p:nvPr/>
        </p:nvSpPr>
        <p:spPr>
          <a:xfrm>
            <a:off x="6492240" y="645958"/>
            <a:ext cx="4572000" cy="320040"/>
          </a:xfrm>
          <a:prstGeom prst="rect">
            <a:avLst/>
          </a:prstGeom>
          <a:noFill/>
          <a:ln/>
        </p:spPr>
        <p:txBody>
          <a:bodyPr wrap="square" rtlCol="0" anchor="ctr"/>
          <a:lstStyle/>
          <a:p>
            <a:pPr marL="0" indent="0">
              <a:buNone/>
            </a:pPr>
            <a:r>
              <a:rPr lang="en-US" sz="1600" b="1" kern="0" spc="150" dirty="0">
                <a:solidFill>
                  <a:srgbClr val="00B4D8"/>
                </a:solidFill>
                <a:latin typeface="Calibri" pitchFamily="34" charset="0"/>
                <a:ea typeface="Calibri" pitchFamily="34" charset="-122"/>
                <a:cs typeface="Calibri" pitchFamily="34" charset="-120"/>
              </a:rPr>
              <a:t>CORE REQUIREMENTS</a:t>
            </a:r>
            <a:endParaRPr lang="en-US" sz="1600" dirty="0"/>
          </a:p>
        </p:txBody>
      </p:sp>
      <p:sp>
        <p:nvSpPr>
          <p:cNvPr id="29" name="Shape 22"/>
          <p:cNvSpPr/>
          <p:nvPr/>
        </p:nvSpPr>
        <p:spPr>
          <a:xfrm>
            <a:off x="6611112" y="1158431"/>
            <a:ext cx="502920" cy="502920"/>
          </a:xfrm>
          <a:prstGeom prst="ellipse">
            <a:avLst/>
          </a:prstGeom>
          <a:solidFill>
            <a:srgbClr val="2A3676"/>
          </a:solidFill>
          <a:ln/>
        </p:spPr>
      </p:sp>
      <p:pic>
        <p:nvPicPr>
          <p:cNvPr id="30" name="Image 5" descr="/home/claude/banking_os/icons/bolt.png"/>
          <p:cNvPicPr>
            <a:picLocks noChangeAspect="1"/>
          </p:cNvPicPr>
          <p:nvPr/>
        </p:nvPicPr>
        <p:blipFill>
          <a:blip r:embed="rId8"/>
          <a:stretch>
            <a:fillRect/>
          </a:stretch>
        </p:blipFill>
        <p:spPr>
          <a:xfrm>
            <a:off x="6724269" y="1271588"/>
            <a:ext cx="276606" cy="276606"/>
          </a:xfrm>
          <a:prstGeom prst="rect">
            <a:avLst/>
          </a:prstGeom>
        </p:spPr>
      </p:pic>
      <p:sp>
        <p:nvSpPr>
          <p:cNvPr id="31" name="Text 23"/>
          <p:cNvSpPr/>
          <p:nvPr/>
        </p:nvSpPr>
        <p:spPr>
          <a:xfrm>
            <a:off x="7296912" y="1130999"/>
            <a:ext cx="420624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High Speed</a:t>
            </a:r>
            <a:endParaRPr lang="en-US" sz="1600" dirty="0"/>
          </a:p>
        </p:txBody>
      </p:sp>
      <p:sp>
        <p:nvSpPr>
          <p:cNvPr id="32" name="Text 24"/>
          <p:cNvSpPr/>
          <p:nvPr/>
        </p:nvSpPr>
        <p:spPr>
          <a:xfrm>
            <a:off x="7296912" y="1396175"/>
            <a:ext cx="4206240" cy="457200"/>
          </a:xfrm>
          <a:prstGeom prst="rect">
            <a:avLst/>
          </a:prstGeom>
          <a:noFill/>
          <a:ln/>
        </p:spPr>
        <p:txBody>
          <a:bodyPr wrap="square" rtlCol="0" anchor="ctr"/>
          <a:lstStyle/>
          <a:p>
            <a:pPr marL="0" indent="0">
              <a:lnSpc>
                <a:spcPct val="110000"/>
              </a:lnSpc>
              <a:buNone/>
            </a:pPr>
            <a:r>
              <a:rPr lang="en-US" sz="1600" dirty="0">
                <a:solidFill>
                  <a:srgbClr val="CADCFC"/>
                </a:solidFill>
                <a:latin typeface="Calibri" pitchFamily="34" charset="0"/>
                <a:ea typeface="Calibri" pitchFamily="34" charset="-122"/>
                <a:cs typeface="Calibri" pitchFamily="34" charset="-120"/>
              </a:rPr>
              <a:t>Sub-second response across thousands of concurrent requests</a:t>
            </a:r>
            <a:endParaRPr lang="en-US" sz="1600" dirty="0"/>
          </a:p>
        </p:txBody>
      </p:sp>
      <p:sp>
        <p:nvSpPr>
          <p:cNvPr id="33" name="Shape 25"/>
          <p:cNvSpPr/>
          <p:nvPr/>
        </p:nvSpPr>
        <p:spPr>
          <a:xfrm>
            <a:off x="6537960" y="2138268"/>
            <a:ext cx="502920" cy="502920"/>
          </a:xfrm>
          <a:prstGeom prst="ellipse">
            <a:avLst/>
          </a:prstGeom>
          <a:solidFill>
            <a:srgbClr val="2A3676"/>
          </a:solidFill>
          <a:ln/>
        </p:spPr>
      </p:sp>
      <p:pic>
        <p:nvPicPr>
          <p:cNvPr id="34" name="Image 6" descr="/home/claude/banking_os/icons/shield.png"/>
          <p:cNvPicPr>
            <a:picLocks noChangeAspect="1"/>
          </p:cNvPicPr>
          <p:nvPr/>
        </p:nvPicPr>
        <p:blipFill>
          <a:blip r:embed="rId9"/>
          <a:stretch>
            <a:fillRect/>
          </a:stretch>
        </p:blipFill>
        <p:spPr>
          <a:xfrm>
            <a:off x="6651117" y="2251425"/>
            <a:ext cx="276606" cy="276606"/>
          </a:xfrm>
          <a:prstGeom prst="rect">
            <a:avLst/>
          </a:prstGeom>
        </p:spPr>
      </p:pic>
      <p:sp>
        <p:nvSpPr>
          <p:cNvPr id="35" name="Text 26"/>
          <p:cNvSpPr/>
          <p:nvPr/>
        </p:nvSpPr>
        <p:spPr>
          <a:xfrm>
            <a:off x="7223760" y="2110836"/>
            <a:ext cx="420624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Reliability</a:t>
            </a:r>
            <a:endParaRPr lang="en-US" sz="1600" dirty="0"/>
          </a:p>
        </p:txBody>
      </p:sp>
      <p:sp>
        <p:nvSpPr>
          <p:cNvPr id="36" name="Text 27"/>
          <p:cNvSpPr/>
          <p:nvPr/>
        </p:nvSpPr>
        <p:spPr>
          <a:xfrm>
            <a:off x="7223760" y="2376012"/>
            <a:ext cx="4206240" cy="457200"/>
          </a:xfrm>
          <a:prstGeom prst="rect">
            <a:avLst/>
          </a:prstGeom>
          <a:noFill/>
          <a:ln/>
        </p:spPr>
        <p:txBody>
          <a:bodyPr wrap="square" rtlCol="0" anchor="ctr"/>
          <a:lstStyle/>
          <a:p>
            <a:pPr marL="0" indent="0">
              <a:lnSpc>
                <a:spcPct val="110000"/>
              </a:lnSpc>
              <a:buNone/>
            </a:pPr>
            <a:r>
              <a:rPr lang="en-US" sz="1600" dirty="0">
                <a:solidFill>
                  <a:srgbClr val="CADCFC"/>
                </a:solidFill>
                <a:latin typeface="Calibri" pitchFamily="34" charset="0"/>
                <a:ea typeface="Calibri" pitchFamily="34" charset="-122"/>
                <a:cs typeface="Calibri" pitchFamily="34" charset="-120"/>
              </a:rPr>
              <a:t>24x7 uptime with zero tolerance for downtime</a:t>
            </a:r>
            <a:endParaRPr lang="en-US" sz="1600" dirty="0"/>
          </a:p>
        </p:txBody>
      </p:sp>
      <p:sp>
        <p:nvSpPr>
          <p:cNvPr id="37" name="Shape 28"/>
          <p:cNvSpPr/>
          <p:nvPr/>
        </p:nvSpPr>
        <p:spPr>
          <a:xfrm>
            <a:off x="6537960" y="3125820"/>
            <a:ext cx="502920" cy="502920"/>
          </a:xfrm>
          <a:prstGeom prst="ellipse">
            <a:avLst/>
          </a:prstGeom>
          <a:solidFill>
            <a:srgbClr val="2A3676"/>
          </a:solidFill>
          <a:ln/>
        </p:spPr>
      </p:sp>
      <p:pic>
        <p:nvPicPr>
          <p:cNvPr id="38" name="Image 7" descr="/home/claude/banking_os/icons/lock_white.png"/>
          <p:cNvPicPr>
            <a:picLocks noChangeAspect="1"/>
          </p:cNvPicPr>
          <p:nvPr/>
        </p:nvPicPr>
        <p:blipFill>
          <a:blip r:embed="rId10"/>
          <a:stretch>
            <a:fillRect/>
          </a:stretch>
        </p:blipFill>
        <p:spPr>
          <a:xfrm>
            <a:off x="6651117" y="3238977"/>
            <a:ext cx="276606" cy="276606"/>
          </a:xfrm>
          <a:prstGeom prst="rect">
            <a:avLst/>
          </a:prstGeom>
        </p:spPr>
      </p:pic>
      <p:sp>
        <p:nvSpPr>
          <p:cNvPr id="39" name="Text 29"/>
          <p:cNvSpPr/>
          <p:nvPr/>
        </p:nvSpPr>
        <p:spPr>
          <a:xfrm>
            <a:off x="7223760" y="3098388"/>
            <a:ext cx="420624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Security</a:t>
            </a:r>
            <a:endParaRPr lang="en-US" sz="1600" dirty="0"/>
          </a:p>
        </p:txBody>
      </p:sp>
      <p:sp>
        <p:nvSpPr>
          <p:cNvPr id="40" name="Text 30"/>
          <p:cNvSpPr/>
          <p:nvPr/>
        </p:nvSpPr>
        <p:spPr>
          <a:xfrm>
            <a:off x="7223760" y="3363564"/>
            <a:ext cx="4206240" cy="457200"/>
          </a:xfrm>
          <a:prstGeom prst="rect">
            <a:avLst/>
          </a:prstGeom>
          <a:noFill/>
          <a:ln/>
        </p:spPr>
        <p:txBody>
          <a:bodyPr wrap="square" rtlCol="0" anchor="ctr"/>
          <a:lstStyle/>
          <a:p>
            <a:pPr marL="0" indent="0">
              <a:lnSpc>
                <a:spcPct val="110000"/>
              </a:lnSpc>
              <a:buNone/>
            </a:pPr>
            <a:r>
              <a:rPr lang="en-US" sz="1600" dirty="0">
                <a:solidFill>
                  <a:srgbClr val="CADCFC"/>
                </a:solidFill>
                <a:latin typeface="Calibri" pitchFamily="34" charset="0"/>
                <a:ea typeface="Calibri" pitchFamily="34" charset="-122"/>
                <a:cs typeface="Calibri" pitchFamily="34" charset="-120"/>
              </a:rPr>
              <a:t>Protection against fraud, breaches, and cyberattacks</a:t>
            </a:r>
            <a:endParaRPr lang="en-US" sz="1600" dirty="0"/>
          </a:p>
        </p:txBody>
      </p:sp>
      <p:sp>
        <p:nvSpPr>
          <p:cNvPr id="41" name="Shape 31"/>
          <p:cNvSpPr/>
          <p:nvPr/>
        </p:nvSpPr>
        <p:spPr>
          <a:xfrm>
            <a:off x="6537960" y="4173522"/>
            <a:ext cx="502920" cy="502920"/>
          </a:xfrm>
          <a:prstGeom prst="ellipse">
            <a:avLst/>
          </a:prstGeom>
          <a:solidFill>
            <a:srgbClr val="2A3676"/>
          </a:solidFill>
          <a:ln/>
        </p:spPr>
      </p:sp>
      <p:pic>
        <p:nvPicPr>
          <p:cNvPr id="42" name="Image 8" descr="/home/claude/banking_os/icons/expand.png"/>
          <p:cNvPicPr>
            <a:picLocks noChangeAspect="1"/>
          </p:cNvPicPr>
          <p:nvPr/>
        </p:nvPicPr>
        <p:blipFill>
          <a:blip r:embed="rId11"/>
          <a:stretch>
            <a:fillRect/>
          </a:stretch>
        </p:blipFill>
        <p:spPr>
          <a:xfrm>
            <a:off x="6651117" y="4286679"/>
            <a:ext cx="276606" cy="276606"/>
          </a:xfrm>
          <a:prstGeom prst="rect">
            <a:avLst/>
          </a:prstGeom>
        </p:spPr>
      </p:pic>
      <p:sp>
        <p:nvSpPr>
          <p:cNvPr id="43" name="Text 32"/>
          <p:cNvSpPr/>
          <p:nvPr/>
        </p:nvSpPr>
        <p:spPr>
          <a:xfrm>
            <a:off x="7223760" y="4146090"/>
            <a:ext cx="420624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Scalability</a:t>
            </a:r>
            <a:endParaRPr lang="en-US" sz="1600" dirty="0"/>
          </a:p>
        </p:txBody>
      </p:sp>
      <p:sp>
        <p:nvSpPr>
          <p:cNvPr id="44" name="Text 33"/>
          <p:cNvSpPr/>
          <p:nvPr/>
        </p:nvSpPr>
        <p:spPr>
          <a:xfrm>
            <a:off x="7223760" y="4411266"/>
            <a:ext cx="4206240" cy="457200"/>
          </a:xfrm>
          <a:prstGeom prst="rect">
            <a:avLst/>
          </a:prstGeom>
          <a:noFill/>
          <a:ln/>
        </p:spPr>
        <p:txBody>
          <a:bodyPr wrap="square" rtlCol="0" anchor="ctr"/>
          <a:lstStyle/>
          <a:p>
            <a:pPr marL="0" indent="0">
              <a:lnSpc>
                <a:spcPct val="110000"/>
              </a:lnSpc>
              <a:buNone/>
            </a:pPr>
            <a:r>
              <a:rPr lang="en-US" sz="1600" dirty="0">
                <a:solidFill>
                  <a:srgbClr val="CADCFC"/>
                </a:solidFill>
                <a:latin typeface="Calibri" pitchFamily="34" charset="0"/>
                <a:ea typeface="Calibri" pitchFamily="34" charset="-122"/>
                <a:cs typeface="Calibri" pitchFamily="34" charset="-120"/>
              </a:rPr>
              <a:t>Seamless growth with rising customer and transaction volume</a:t>
            </a:r>
            <a:endParaRPr lang="en-US" sz="1600" dirty="0"/>
          </a:p>
        </p:txBody>
      </p:sp>
      <p:sp>
        <p:nvSpPr>
          <p:cNvPr id="45" name="Shape 34"/>
          <p:cNvSpPr/>
          <p:nvPr/>
        </p:nvSpPr>
        <p:spPr>
          <a:xfrm>
            <a:off x="6537960" y="5358384"/>
            <a:ext cx="502920" cy="502920"/>
          </a:xfrm>
          <a:prstGeom prst="ellipse">
            <a:avLst/>
          </a:prstGeom>
          <a:solidFill>
            <a:srgbClr val="2A3676"/>
          </a:solidFill>
          <a:ln/>
        </p:spPr>
      </p:sp>
      <p:pic>
        <p:nvPicPr>
          <p:cNvPr id="46" name="Image 9" descr="/home/claude/banking_os/icons/checkcircle.png"/>
          <p:cNvPicPr>
            <a:picLocks noChangeAspect="1"/>
          </p:cNvPicPr>
          <p:nvPr/>
        </p:nvPicPr>
        <p:blipFill>
          <a:blip r:embed="rId12"/>
          <a:stretch>
            <a:fillRect/>
          </a:stretch>
        </p:blipFill>
        <p:spPr>
          <a:xfrm>
            <a:off x="6651117" y="5471541"/>
            <a:ext cx="276606" cy="276606"/>
          </a:xfrm>
          <a:prstGeom prst="rect">
            <a:avLst/>
          </a:prstGeom>
        </p:spPr>
      </p:pic>
      <p:sp>
        <p:nvSpPr>
          <p:cNvPr id="47" name="Text 35"/>
          <p:cNvSpPr/>
          <p:nvPr/>
        </p:nvSpPr>
        <p:spPr>
          <a:xfrm>
            <a:off x="7223760" y="5330952"/>
            <a:ext cx="4206240" cy="29260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Consistency</a:t>
            </a:r>
            <a:endParaRPr lang="en-US" sz="1600" dirty="0"/>
          </a:p>
        </p:txBody>
      </p:sp>
      <p:sp>
        <p:nvSpPr>
          <p:cNvPr id="48" name="Text 36"/>
          <p:cNvSpPr/>
          <p:nvPr/>
        </p:nvSpPr>
        <p:spPr>
          <a:xfrm>
            <a:off x="7223760" y="5596128"/>
            <a:ext cx="4206240" cy="457200"/>
          </a:xfrm>
          <a:prstGeom prst="rect">
            <a:avLst/>
          </a:prstGeom>
          <a:noFill/>
          <a:ln/>
        </p:spPr>
        <p:txBody>
          <a:bodyPr wrap="square" rtlCol="0" anchor="ctr"/>
          <a:lstStyle/>
          <a:p>
            <a:pPr marL="0" indent="0">
              <a:lnSpc>
                <a:spcPct val="110000"/>
              </a:lnSpc>
              <a:buNone/>
            </a:pPr>
            <a:r>
              <a:rPr lang="en-US" sz="1600" dirty="0">
                <a:solidFill>
                  <a:srgbClr val="CADCFC"/>
                </a:solidFill>
                <a:latin typeface="Calibri" pitchFamily="34" charset="0"/>
                <a:ea typeface="Calibri" pitchFamily="34" charset="-122"/>
                <a:cs typeface="Calibri" pitchFamily="34" charset="-120"/>
              </a:rPr>
              <a:t>Every transaction accurate, atomic, and verifiable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THE PROBLEM</a:t>
            </a:r>
            <a:endParaRPr lang="en-US" sz="14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Challenges Faced by Banking Operating Systems</a:t>
            </a:r>
            <a:endParaRPr lang="en-US" sz="2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400" dirty="0">
                <a:solidFill>
                  <a:srgbClr val="5A6472"/>
                </a:solidFill>
                <a:latin typeface="Calibri" pitchFamily="34" charset="0"/>
                <a:ea typeface="Calibri" pitchFamily="34" charset="-122"/>
                <a:cs typeface="Calibri" pitchFamily="34" charset="-120"/>
              </a:rPr>
              <a:t>03</a:t>
            </a:r>
            <a:endParaRPr lang="en-US" sz="1400" dirty="0"/>
          </a:p>
        </p:txBody>
      </p:sp>
      <p:sp>
        <p:nvSpPr>
          <p:cNvPr id="5" name="Shape 3"/>
          <p:cNvSpPr/>
          <p:nvPr/>
        </p:nvSpPr>
        <p:spPr>
          <a:xfrm>
            <a:off x="548640" y="1508760"/>
            <a:ext cx="5257800" cy="1207008"/>
          </a:xfrm>
          <a:prstGeom prst="roundRect">
            <a:avLst>
              <a:gd name="adj" fmla="val 6061"/>
            </a:avLst>
          </a:prstGeom>
          <a:solidFill>
            <a:srgbClr val="F4F7FC"/>
          </a:solidFill>
          <a:ln/>
        </p:spPr>
      </p:sp>
      <p:sp>
        <p:nvSpPr>
          <p:cNvPr id="6" name="Shape 4"/>
          <p:cNvSpPr/>
          <p:nvPr/>
        </p:nvSpPr>
        <p:spPr>
          <a:xfrm>
            <a:off x="731520" y="1828800"/>
            <a:ext cx="566928" cy="566928"/>
          </a:xfrm>
          <a:prstGeom prst="ellipse">
            <a:avLst/>
          </a:prstGeom>
          <a:solidFill>
            <a:srgbClr val="FFFFFF"/>
          </a:solidFill>
          <a:ln/>
        </p:spPr>
      </p:sp>
      <p:pic>
        <p:nvPicPr>
          <p:cNvPr id="7" name="Image 0" descr="/home/claude/banking_os/icons/users_navy.png"/>
          <p:cNvPicPr>
            <a:picLocks noChangeAspect="1"/>
          </p:cNvPicPr>
          <p:nvPr/>
        </p:nvPicPr>
        <p:blipFill>
          <a:blip r:embed="rId3"/>
          <a:stretch>
            <a:fillRect/>
          </a:stretch>
        </p:blipFill>
        <p:spPr>
          <a:xfrm>
            <a:off x="859079" y="1956359"/>
            <a:ext cx="311810" cy="311810"/>
          </a:xfrm>
          <a:prstGeom prst="rect">
            <a:avLst/>
          </a:prstGeom>
        </p:spPr>
      </p:pic>
      <p:sp>
        <p:nvSpPr>
          <p:cNvPr id="8" name="Text 5"/>
          <p:cNvSpPr/>
          <p:nvPr/>
        </p:nvSpPr>
        <p:spPr>
          <a:xfrm>
            <a:off x="1463040" y="163677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Thousands of Concurrent Users</a:t>
            </a:r>
            <a:endParaRPr lang="en-US" sz="1400" dirty="0"/>
          </a:p>
        </p:txBody>
      </p:sp>
      <p:sp>
        <p:nvSpPr>
          <p:cNvPr id="9" name="Text 6"/>
          <p:cNvSpPr/>
          <p:nvPr/>
        </p:nvSpPr>
        <p:spPr>
          <a:xfrm>
            <a:off x="1463040" y="201168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Simultaneous logins, queries, and transfers every second</a:t>
            </a:r>
            <a:endParaRPr lang="en-US" sz="1400" dirty="0"/>
          </a:p>
        </p:txBody>
      </p:sp>
      <p:sp>
        <p:nvSpPr>
          <p:cNvPr id="10" name="Shape 7"/>
          <p:cNvSpPr/>
          <p:nvPr/>
        </p:nvSpPr>
        <p:spPr>
          <a:xfrm>
            <a:off x="6126480" y="1508760"/>
            <a:ext cx="5257800" cy="1207008"/>
          </a:xfrm>
          <a:prstGeom prst="roundRect">
            <a:avLst>
              <a:gd name="adj" fmla="val 6061"/>
            </a:avLst>
          </a:prstGeom>
          <a:solidFill>
            <a:srgbClr val="F4F7FC"/>
          </a:solidFill>
          <a:ln/>
        </p:spPr>
      </p:sp>
      <p:sp>
        <p:nvSpPr>
          <p:cNvPr id="11" name="Shape 8"/>
          <p:cNvSpPr/>
          <p:nvPr/>
        </p:nvSpPr>
        <p:spPr>
          <a:xfrm>
            <a:off x="6309360" y="1828800"/>
            <a:ext cx="566928" cy="566928"/>
          </a:xfrm>
          <a:prstGeom prst="ellipse">
            <a:avLst/>
          </a:prstGeom>
          <a:solidFill>
            <a:srgbClr val="FFFFFF"/>
          </a:solidFill>
          <a:ln/>
        </p:spPr>
      </p:sp>
      <p:pic>
        <p:nvPicPr>
          <p:cNvPr id="12" name="Image 1" descr="/home/claude/banking_os/icons/database2.png"/>
          <p:cNvPicPr>
            <a:picLocks noChangeAspect="1"/>
          </p:cNvPicPr>
          <p:nvPr/>
        </p:nvPicPr>
        <p:blipFill>
          <a:blip r:embed="rId4"/>
          <a:stretch>
            <a:fillRect/>
          </a:stretch>
        </p:blipFill>
        <p:spPr>
          <a:xfrm>
            <a:off x="6436919" y="1956359"/>
            <a:ext cx="311810" cy="311810"/>
          </a:xfrm>
          <a:prstGeom prst="rect">
            <a:avLst/>
          </a:prstGeom>
        </p:spPr>
      </p:pic>
      <p:sp>
        <p:nvSpPr>
          <p:cNvPr id="13" name="Text 9"/>
          <p:cNvSpPr/>
          <p:nvPr/>
        </p:nvSpPr>
        <p:spPr>
          <a:xfrm>
            <a:off x="7040880" y="163677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Massive Database Operations</a:t>
            </a:r>
            <a:endParaRPr lang="en-US" sz="1400" dirty="0"/>
          </a:p>
        </p:txBody>
      </p:sp>
      <p:sp>
        <p:nvSpPr>
          <p:cNvPr id="14" name="Text 10"/>
          <p:cNvSpPr/>
          <p:nvPr/>
        </p:nvSpPr>
        <p:spPr>
          <a:xfrm>
            <a:off x="7040880" y="201168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Millions of reads/writes across core banking databases</a:t>
            </a:r>
            <a:endParaRPr lang="en-US" sz="1400" dirty="0"/>
          </a:p>
        </p:txBody>
      </p:sp>
      <p:sp>
        <p:nvSpPr>
          <p:cNvPr id="15" name="Shape 11"/>
          <p:cNvSpPr/>
          <p:nvPr/>
        </p:nvSpPr>
        <p:spPr>
          <a:xfrm>
            <a:off x="548640" y="2971800"/>
            <a:ext cx="5257800" cy="1207008"/>
          </a:xfrm>
          <a:prstGeom prst="roundRect">
            <a:avLst>
              <a:gd name="adj" fmla="val 6061"/>
            </a:avLst>
          </a:prstGeom>
          <a:solidFill>
            <a:srgbClr val="F4F7FC"/>
          </a:solidFill>
          <a:ln/>
        </p:spPr>
      </p:sp>
      <p:sp>
        <p:nvSpPr>
          <p:cNvPr id="16" name="Shape 12"/>
          <p:cNvSpPr/>
          <p:nvPr/>
        </p:nvSpPr>
        <p:spPr>
          <a:xfrm>
            <a:off x="731520" y="3291840"/>
            <a:ext cx="566928" cy="566928"/>
          </a:xfrm>
          <a:prstGeom prst="ellipse">
            <a:avLst/>
          </a:prstGeom>
          <a:solidFill>
            <a:srgbClr val="FFFFFF"/>
          </a:solidFill>
          <a:ln/>
        </p:spPr>
      </p:sp>
      <p:pic>
        <p:nvPicPr>
          <p:cNvPr id="17" name="Image 2" descr="/home/claude/banking_os/icons/clock_navy.png"/>
          <p:cNvPicPr>
            <a:picLocks noChangeAspect="1"/>
          </p:cNvPicPr>
          <p:nvPr/>
        </p:nvPicPr>
        <p:blipFill>
          <a:blip r:embed="rId5"/>
          <a:stretch>
            <a:fillRect/>
          </a:stretch>
        </p:blipFill>
        <p:spPr>
          <a:xfrm>
            <a:off x="859079" y="3419399"/>
            <a:ext cx="311810" cy="311810"/>
          </a:xfrm>
          <a:prstGeom prst="rect">
            <a:avLst/>
          </a:prstGeom>
        </p:spPr>
      </p:pic>
      <p:sp>
        <p:nvSpPr>
          <p:cNvPr id="18" name="Text 13"/>
          <p:cNvSpPr/>
          <p:nvPr/>
        </p:nvSpPr>
        <p:spPr>
          <a:xfrm>
            <a:off x="1463040" y="309981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Continuous Availability (24x7)</a:t>
            </a:r>
            <a:endParaRPr lang="en-US" sz="1400" dirty="0"/>
          </a:p>
        </p:txBody>
      </p:sp>
      <p:sp>
        <p:nvSpPr>
          <p:cNvPr id="19" name="Text 14"/>
          <p:cNvSpPr/>
          <p:nvPr/>
        </p:nvSpPr>
        <p:spPr>
          <a:xfrm>
            <a:off x="1463040" y="347472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No scheduled downtime tolerated by customers or regulators</a:t>
            </a:r>
            <a:endParaRPr lang="en-US" sz="1400" dirty="0"/>
          </a:p>
        </p:txBody>
      </p:sp>
      <p:sp>
        <p:nvSpPr>
          <p:cNvPr id="20" name="Shape 15"/>
          <p:cNvSpPr/>
          <p:nvPr/>
        </p:nvSpPr>
        <p:spPr>
          <a:xfrm>
            <a:off x="6126480" y="2971800"/>
            <a:ext cx="5257800" cy="1207008"/>
          </a:xfrm>
          <a:prstGeom prst="roundRect">
            <a:avLst>
              <a:gd name="adj" fmla="val 6061"/>
            </a:avLst>
          </a:prstGeom>
          <a:solidFill>
            <a:srgbClr val="F4F7FC"/>
          </a:solidFill>
          <a:ln/>
        </p:spPr>
      </p:sp>
      <p:sp>
        <p:nvSpPr>
          <p:cNvPr id="21" name="Shape 16"/>
          <p:cNvSpPr/>
          <p:nvPr/>
        </p:nvSpPr>
        <p:spPr>
          <a:xfrm>
            <a:off x="6309360" y="3291840"/>
            <a:ext cx="566928" cy="566928"/>
          </a:xfrm>
          <a:prstGeom prst="ellipse">
            <a:avLst/>
          </a:prstGeom>
          <a:solidFill>
            <a:srgbClr val="FFFFFF"/>
          </a:solidFill>
          <a:ln/>
        </p:spPr>
      </p:sp>
      <p:pic>
        <p:nvPicPr>
          <p:cNvPr id="22" name="Image 3" descr="/home/claude/banking_os/icons/scale.png"/>
          <p:cNvPicPr>
            <a:picLocks noChangeAspect="1"/>
          </p:cNvPicPr>
          <p:nvPr/>
        </p:nvPicPr>
        <p:blipFill>
          <a:blip r:embed="rId6"/>
          <a:stretch>
            <a:fillRect/>
          </a:stretch>
        </p:blipFill>
        <p:spPr>
          <a:xfrm>
            <a:off x="6436919" y="3419399"/>
            <a:ext cx="311810" cy="311810"/>
          </a:xfrm>
          <a:prstGeom prst="rect">
            <a:avLst/>
          </a:prstGeom>
        </p:spPr>
      </p:pic>
      <p:sp>
        <p:nvSpPr>
          <p:cNvPr id="23" name="Text 17"/>
          <p:cNvSpPr/>
          <p:nvPr/>
        </p:nvSpPr>
        <p:spPr>
          <a:xfrm>
            <a:off x="7040880" y="309981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 Consistency</a:t>
            </a:r>
            <a:endParaRPr lang="en-US" sz="1400" dirty="0"/>
          </a:p>
        </p:txBody>
      </p:sp>
      <p:sp>
        <p:nvSpPr>
          <p:cNvPr id="24" name="Text 18"/>
          <p:cNvSpPr/>
          <p:nvPr/>
        </p:nvSpPr>
        <p:spPr>
          <a:xfrm>
            <a:off x="7040880" y="347472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Every rupee must be accounted for, with no partial updates</a:t>
            </a:r>
            <a:endParaRPr lang="en-US" sz="1400" dirty="0"/>
          </a:p>
        </p:txBody>
      </p:sp>
      <p:sp>
        <p:nvSpPr>
          <p:cNvPr id="25" name="Shape 19"/>
          <p:cNvSpPr/>
          <p:nvPr/>
        </p:nvSpPr>
        <p:spPr>
          <a:xfrm>
            <a:off x="548640" y="4434840"/>
            <a:ext cx="5257800" cy="1207008"/>
          </a:xfrm>
          <a:prstGeom prst="roundRect">
            <a:avLst>
              <a:gd name="adj" fmla="val 6061"/>
            </a:avLst>
          </a:prstGeom>
          <a:solidFill>
            <a:srgbClr val="F4F7FC"/>
          </a:solidFill>
          <a:ln/>
        </p:spPr>
      </p:sp>
      <p:sp>
        <p:nvSpPr>
          <p:cNvPr id="26" name="Shape 20"/>
          <p:cNvSpPr/>
          <p:nvPr/>
        </p:nvSpPr>
        <p:spPr>
          <a:xfrm>
            <a:off x="731520" y="4754880"/>
            <a:ext cx="566928" cy="566928"/>
          </a:xfrm>
          <a:prstGeom prst="ellipse">
            <a:avLst/>
          </a:prstGeom>
          <a:solidFill>
            <a:srgbClr val="FFFFFF"/>
          </a:solidFill>
          <a:ln/>
        </p:spPr>
      </p:sp>
      <p:pic>
        <p:nvPicPr>
          <p:cNvPr id="27" name="Image 4" descr="/home/claude/banking_os/icons/userShield.png"/>
          <p:cNvPicPr>
            <a:picLocks noChangeAspect="1"/>
          </p:cNvPicPr>
          <p:nvPr/>
        </p:nvPicPr>
        <p:blipFill>
          <a:blip r:embed="rId7"/>
          <a:stretch>
            <a:fillRect/>
          </a:stretch>
        </p:blipFill>
        <p:spPr>
          <a:xfrm>
            <a:off x="859079" y="4882439"/>
            <a:ext cx="311810" cy="311810"/>
          </a:xfrm>
          <a:prstGeom prst="rect">
            <a:avLst/>
          </a:prstGeom>
        </p:spPr>
      </p:pic>
      <p:sp>
        <p:nvSpPr>
          <p:cNvPr id="28" name="Text 21"/>
          <p:cNvSpPr/>
          <p:nvPr/>
        </p:nvSpPr>
        <p:spPr>
          <a:xfrm>
            <a:off x="1463040" y="456285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Security Threats</a:t>
            </a:r>
            <a:endParaRPr lang="en-US" sz="1400" dirty="0"/>
          </a:p>
        </p:txBody>
      </p:sp>
      <p:sp>
        <p:nvSpPr>
          <p:cNvPr id="29" name="Text 22"/>
          <p:cNvSpPr/>
          <p:nvPr/>
        </p:nvSpPr>
        <p:spPr>
          <a:xfrm>
            <a:off x="1463040" y="493776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Constant exposure to fraud, hacking, and data breaches</a:t>
            </a:r>
            <a:endParaRPr lang="en-US" sz="1400" dirty="0"/>
          </a:p>
        </p:txBody>
      </p:sp>
      <p:sp>
        <p:nvSpPr>
          <p:cNvPr id="30" name="Shape 23"/>
          <p:cNvSpPr/>
          <p:nvPr/>
        </p:nvSpPr>
        <p:spPr>
          <a:xfrm>
            <a:off x="6126480" y="4434840"/>
            <a:ext cx="5257800" cy="1207008"/>
          </a:xfrm>
          <a:prstGeom prst="roundRect">
            <a:avLst>
              <a:gd name="adj" fmla="val 6061"/>
            </a:avLst>
          </a:prstGeom>
          <a:solidFill>
            <a:srgbClr val="F4F7FC"/>
          </a:solidFill>
          <a:ln/>
        </p:spPr>
      </p:sp>
      <p:sp>
        <p:nvSpPr>
          <p:cNvPr id="31" name="Shape 24"/>
          <p:cNvSpPr/>
          <p:nvPr/>
        </p:nvSpPr>
        <p:spPr>
          <a:xfrm>
            <a:off x="6309360" y="4754880"/>
            <a:ext cx="566928" cy="566928"/>
          </a:xfrm>
          <a:prstGeom prst="ellipse">
            <a:avLst/>
          </a:prstGeom>
          <a:solidFill>
            <a:srgbClr val="FFFFFF"/>
          </a:solidFill>
          <a:ln/>
        </p:spPr>
      </p:sp>
      <p:pic>
        <p:nvPicPr>
          <p:cNvPr id="32" name="Image 5" descr="/home/claude/banking_os/icons/toolbox.png"/>
          <p:cNvPicPr>
            <a:picLocks noChangeAspect="1"/>
          </p:cNvPicPr>
          <p:nvPr/>
        </p:nvPicPr>
        <p:blipFill>
          <a:blip r:embed="rId8"/>
          <a:stretch>
            <a:fillRect/>
          </a:stretch>
        </p:blipFill>
        <p:spPr>
          <a:xfrm>
            <a:off x="6436919" y="4882439"/>
            <a:ext cx="311810" cy="311810"/>
          </a:xfrm>
          <a:prstGeom prst="rect">
            <a:avLst/>
          </a:prstGeom>
        </p:spPr>
      </p:pic>
      <p:sp>
        <p:nvSpPr>
          <p:cNvPr id="33" name="Text 25"/>
          <p:cNvSpPr/>
          <p:nvPr/>
        </p:nvSpPr>
        <p:spPr>
          <a:xfrm>
            <a:off x="7040880" y="4562856"/>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Fault Tolerance</a:t>
            </a:r>
            <a:endParaRPr lang="en-US" sz="1400" dirty="0"/>
          </a:p>
        </p:txBody>
      </p:sp>
      <p:sp>
        <p:nvSpPr>
          <p:cNvPr id="34" name="Text 26"/>
          <p:cNvSpPr/>
          <p:nvPr/>
        </p:nvSpPr>
        <p:spPr>
          <a:xfrm>
            <a:off x="7040880" y="493776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System must keep running despite hardware/software failures</a:t>
            </a:r>
            <a:endParaRPr lang="en-US" sz="1400" dirty="0"/>
          </a:p>
        </p:txBody>
      </p:sp>
      <p:sp>
        <p:nvSpPr>
          <p:cNvPr id="35" name="Shape 27"/>
          <p:cNvSpPr/>
          <p:nvPr/>
        </p:nvSpPr>
        <p:spPr>
          <a:xfrm>
            <a:off x="548640" y="6025896"/>
            <a:ext cx="5257800" cy="777240"/>
          </a:xfrm>
          <a:prstGeom prst="roundRect">
            <a:avLst>
              <a:gd name="adj" fmla="val 6061"/>
            </a:avLst>
          </a:prstGeom>
          <a:solidFill>
            <a:srgbClr val="F4F7FC"/>
          </a:solidFill>
          <a:ln/>
        </p:spPr>
      </p:sp>
      <p:sp>
        <p:nvSpPr>
          <p:cNvPr id="36" name="Shape 28"/>
          <p:cNvSpPr/>
          <p:nvPr/>
        </p:nvSpPr>
        <p:spPr>
          <a:xfrm>
            <a:off x="731520" y="6217920"/>
            <a:ext cx="566928" cy="566928"/>
          </a:xfrm>
          <a:prstGeom prst="ellipse">
            <a:avLst/>
          </a:prstGeom>
          <a:solidFill>
            <a:srgbClr val="FFFFFF"/>
          </a:solidFill>
          <a:ln/>
        </p:spPr>
      </p:sp>
      <p:pic>
        <p:nvPicPr>
          <p:cNvPr id="37" name="Image 6" descr="/home/claude/banking_os/icons/sync.png"/>
          <p:cNvPicPr>
            <a:picLocks noChangeAspect="1"/>
          </p:cNvPicPr>
          <p:nvPr/>
        </p:nvPicPr>
        <p:blipFill>
          <a:blip r:embed="rId9"/>
          <a:stretch>
            <a:fillRect/>
          </a:stretch>
        </p:blipFill>
        <p:spPr>
          <a:xfrm>
            <a:off x="859079" y="6162142"/>
            <a:ext cx="311810" cy="311810"/>
          </a:xfrm>
          <a:prstGeom prst="rect">
            <a:avLst/>
          </a:prstGeom>
        </p:spPr>
      </p:pic>
      <p:sp>
        <p:nvSpPr>
          <p:cNvPr id="38" name="Text 29"/>
          <p:cNvSpPr/>
          <p:nvPr/>
        </p:nvSpPr>
        <p:spPr>
          <a:xfrm>
            <a:off x="1463040" y="6035040"/>
            <a:ext cx="4160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Disaster Recovery</a:t>
            </a:r>
            <a:endParaRPr lang="en-US" sz="1400" dirty="0"/>
          </a:p>
        </p:txBody>
      </p:sp>
      <p:sp>
        <p:nvSpPr>
          <p:cNvPr id="39" name="Text 30"/>
          <p:cNvSpPr/>
          <p:nvPr/>
        </p:nvSpPr>
        <p:spPr>
          <a:xfrm>
            <a:off x="1426007" y="6142800"/>
            <a:ext cx="4160520" cy="594360"/>
          </a:xfrm>
          <a:prstGeom prst="rect">
            <a:avLst/>
          </a:prstGeom>
          <a:noFill/>
          <a:ln/>
        </p:spPr>
        <p:txBody>
          <a:bodyPr wrap="square" rtlCol="0" anchor="ctr"/>
          <a:lstStyle/>
          <a:p>
            <a:pPr marL="0" indent="0">
              <a:lnSpc>
                <a:spcPct val="110000"/>
              </a:lnSpc>
              <a:buNone/>
            </a:pPr>
            <a:r>
              <a:rPr lang="en-US" sz="1400" dirty="0">
                <a:solidFill>
                  <a:srgbClr val="5A6472"/>
                </a:solidFill>
                <a:latin typeface="Calibri" pitchFamily="34" charset="0"/>
                <a:ea typeface="Calibri" pitchFamily="34" charset="-122"/>
                <a:cs typeface="Calibri" pitchFamily="34" charset="-120"/>
              </a:rPr>
              <a:t>Rapid restoration of service after outages or disasters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MAPPING NEEDS TO SOLUTIONS</a:t>
            </a:r>
            <a:endParaRPr lang="en-US" sz="14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Why These Operating Systems?</a:t>
            </a:r>
            <a:endParaRPr lang="en-US" sz="2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400" dirty="0">
                <a:solidFill>
                  <a:srgbClr val="5A6472"/>
                </a:solidFill>
                <a:latin typeface="Calibri" pitchFamily="34" charset="0"/>
                <a:ea typeface="Calibri" pitchFamily="34" charset="-122"/>
                <a:cs typeface="Calibri" pitchFamily="34" charset="-120"/>
              </a:rPr>
              <a:t>05</a:t>
            </a:r>
            <a:endParaRPr lang="en-US" sz="1400" dirty="0"/>
          </a:p>
        </p:txBody>
      </p:sp>
      <p:sp>
        <p:nvSpPr>
          <p:cNvPr id="5" name="Text 3"/>
          <p:cNvSpPr/>
          <p:nvPr/>
        </p:nvSpPr>
        <p:spPr>
          <a:xfrm>
            <a:off x="548640" y="1444752"/>
            <a:ext cx="10058400" cy="365760"/>
          </a:xfrm>
          <a:prstGeom prst="rect">
            <a:avLst/>
          </a:prstGeom>
          <a:noFill/>
          <a:ln/>
        </p:spPr>
        <p:txBody>
          <a:bodyPr wrap="square"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Each banking requirement maps directly to an operating system capability designed to solve it.</a:t>
            </a:r>
            <a:endParaRPr lang="en-US" sz="1400" dirty="0"/>
          </a:p>
        </p:txBody>
      </p:sp>
      <p:sp>
        <p:nvSpPr>
          <p:cNvPr id="6" name="Shape 4"/>
          <p:cNvSpPr/>
          <p:nvPr/>
        </p:nvSpPr>
        <p:spPr>
          <a:xfrm>
            <a:off x="548640" y="1965960"/>
            <a:ext cx="11064240" cy="502920"/>
          </a:xfrm>
          <a:prstGeom prst="roundRect">
            <a:avLst>
              <a:gd name="adj" fmla="val 10909"/>
            </a:avLst>
          </a:prstGeom>
          <a:solidFill>
            <a:srgbClr val="1E2761"/>
          </a:solidFill>
          <a:ln/>
        </p:spPr>
      </p:sp>
      <p:sp>
        <p:nvSpPr>
          <p:cNvPr id="7" name="Text 5"/>
          <p:cNvSpPr/>
          <p:nvPr/>
        </p:nvSpPr>
        <p:spPr>
          <a:xfrm>
            <a:off x="1463040" y="1965960"/>
            <a:ext cx="5486400" cy="502920"/>
          </a:xfrm>
          <a:prstGeom prst="rect">
            <a:avLst/>
          </a:prstGeom>
          <a:noFill/>
          <a:ln/>
        </p:spPr>
        <p:txBody>
          <a:bodyPr wrap="square"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BANKING REQUIREMENT</a:t>
            </a:r>
            <a:endParaRPr lang="en-US" sz="1400" dirty="0"/>
          </a:p>
        </p:txBody>
      </p:sp>
      <p:sp>
        <p:nvSpPr>
          <p:cNvPr id="8" name="Text 6"/>
          <p:cNvSpPr/>
          <p:nvPr/>
        </p:nvSpPr>
        <p:spPr>
          <a:xfrm>
            <a:off x="6949440" y="1965960"/>
            <a:ext cx="4572000" cy="502920"/>
          </a:xfrm>
          <a:prstGeom prst="rect">
            <a:avLst/>
          </a:prstGeom>
          <a:noFill/>
          <a:ln/>
        </p:spPr>
        <p:txBody>
          <a:bodyPr wrap="square" rtlCol="0" anchor="ctr"/>
          <a:lstStyle/>
          <a:p>
            <a:pPr marL="0" indent="0">
              <a:buNone/>
            </a:pPr>
            <a:r>
              <a:rPr lang="en-US" sz="1400" b="1" kern="0" spc="100" dirty="0">
                <a:solidFill>
                  <a:srgbClr val="00B4D8"/>
                </a:solidFill>
                <a:latin typeface="Calibri" pitchFamily="34" charset="0"/>
                <a:ea typeface="Calibri" pitchFamily="34" charset="-122"/>
                <a:cs typeface="Calibri" pitchFamily="34" charset="-120"/>
              </a:rPr>
              <a:t>SUITABLE OPERATING SYSTEM</a:t>
            </a:r>
            <a:endParaRPr lang="en-US" sz="1400" dirty="0"/>
          </a:p>
        </p:txBody>
      </p:sp>
      <p:sp>
        <p:nvSpPr>
          <p:cNvPr id="9" name="Shape 7"/>
          <p:cNvSpPr/>
          <p:nvPr/>
        </p:nvSpPr>
        <p:spPr>
          <a:xfrm>
            <a:off x="548640" y="2468880"/>
            <a:ext cx="11064240" cy="713232"/>
          </a:xfrm>
          <a:prstGeom prst="rect">
            <a:avLst/>
          </a:prstGeom>
          <a:solidFill>
            <a:srgbClr val="F4F7FC"/>
          </a:solidFill>
          <a:ln/>
        </p:spPr>
      </p:sp>
      <p:sp>
        <p:nvSpPr>
          <p:cNvPr id="10" name="Shape 8"/>
          <p:cNvSpPr/>
          <p:nvPr/>
        </p:nvSpPr>
        <p:spPr>
          <a:xfrm>
            <a:off x="777240" y="2596896"/>
            <a:ext cx="457200" cy="457200"/>
          </a:xfrm>
          <a:prstGeom prst="ellipse">
            <a:avLst/>
          </a:prstGeom>
          <a:solidFill>
            <a:srgbClr val="FFFFFF"/>
          </a:solidFill>
          <a:ln/>
        </p:spPr>
      </p:sp>
      <p:pic>
        <p:nvPicPr>
          <p:cNvPr id="11" name="Image 0" descr="/home/claude/banking_os/icons/users_navy.png"/>
          <p:cNvPicPr>
            <a:picLocks noChangeAspect="1"/>
          </p:cNvPicPr>
          <p:nvPr/>
        </p:nvPicPr>
        <p:blipFill>
          <a:blip r:embed="rId3"/>
          <a:stretch>
            <a:fillRect/>
          </a:stretch>
        </p:blipFill>
        <p:spPr>
          <a:xfrm>
            <a:off x="880110" y="2699766"/>
            <a:ext cx="251460" cy="251460"/>
          </a:xfrm>
          <a:prstGeom prst="rect">
            <a:avLst/>
          </a:prstGeom>
        </p:spPr>
      </p:pic>
      <p:sp>
        <p:nvSpPr>
          <p:cNvPr id="12" name="Text 9"/>
          <p:cNvSpPr/>
          <p:nvPr/>
        </p:nvSpPr>
        <p:spPr>
          <a:xfrm>
            <a:off x="1463040" y="2468880"/>
            <a:ext cx="5303520" cy="713232"/>
          </a:xfrm>
          <a:prstGeom prst="rect">
            <a:avLst/>
          </a:prstGeom>
          <a:noFill/>
          <a:ln/>
        </p:spPr>
        <p:txBody>
          <a:bodyPr wrap="square" rtlCol="0" anchor="ctr"/>
          <a:lstStyle/>
          <a:p>
            <a:pPr marL="0" indent="0">
              <a:buNone/>
            </a:pPr>
            <a:r>
              <a:rPr lang="en-US" sz="1400" b="1" dirty="0">
                <a:solidFill>
                  <a:srgbClr val="1B1B2F"/>
                </a:solidFill>
                <a:latin typeface="Calibri" pitchFamily="34" charset="0"/>
                <a:ea typeface="Calibri" pitchFamily="34" charset="-122"/>
                <a:cs typeface="Calibri" pitchFamily="34" charset="-120"/>
              </a:rPr>
              <a:t>Thousands of Users</a:t>
            </a:r>
            <a:endParaRPr lang="en-US" sz="1400" dirty="0"/>
          </a:p>
        </p:txBody>
      </p:sp>
      <p:sp>
        <p:nvSpPr>
          <p:cNvPr id="13" name="Shape 10"/>
          <p:cNvSpPr/>
          <p:nvPr/>
        </p:nvSpPr>
        <p:spPr>
          <a:xfrm>
            <a:off x="6949440" y="2633472"/>
            <a:ext cx="2286000" cy="384048"/>
          </a:xfrm>
          <a:prstGeom prst="roundRect">
            <a:avLst>
              <a:gd name="adj" fmla="val 50000"/>
            </a:avLst>
          </a:prstGeom>
          <a:solidFill>
            <a:srgbClr val="E4F7FA"/>
          </a:solidFill>
          <a:ln w="12700">
            <a:solidFill>
              <a:srgbClr val="00B4D8"/>
            </a:solidFill>
            <a:prstDash val="solid"/>
          </a:ln>
        </p:spPr>
      </p:sp>
      <p:sp>
        <p:nvSpPr>
          <p:cNvPr id="14" name="Text 11"/>
          <p:cNvSpPr/>
          <p:nvPr/>
        </p:nvSpPr>
        <p:spPr>
          <a:xfrm>
            <a:off x="6949440" y="2633472"/>
            <a:ext cx="2286000" cy="384048"/>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Multiuser</a:t>
            </a:r>
            <a:endParaRPr lang="en-US" sz="1400" dirty="0"/>
          </a:p>
        </p:txBody>
      </p:sp>
      <p:sp>
        <p:nvSpPr>
          <p:cNvPr id="15" name="Shape 12"/>
          <p:cNvSpPr/>
          <p:nvPr/>
        </p:nvSpPr>
        <p:spPr>
          <a:xfrm>
            <a:off x="548640" y="3182112"/>
            <a:ext cx="11064240" cy="713232"/>
          </a:xfrm>
          <a:prstGeom prst="rect">
            <a:avLst/>
          </a:prstGeom>
          <a:solidFill>
            <a:srgbClr val="FFFFFF"/>
          </a:solidFill>
          <a:ln/>
        </p:spPr>
      </p:sp>
      <p:sp>
        <p:nvSpPr>
          <p:cNvPr id="16" name="Shape 13"/>
          <p:cNvSpPr/>
          <p:nvPr/>
        </p:nvSpPr>
        <p:spPr>
          <a:xfrm>
            <a:off x="777240" y="3310128"/>
            <a:ext cx="457200" cy="457200"/>
          </a:xfrm>
          <a:prstGeom prst="ellipse">
            <a:avLst/>
          </a:prstGeom>
          <a:solidFill>
            <a:srgbClr val="FFFFFF"/>
          </a:solidFill>
          <a:ln/>
        </p:spPr>
      </p:sp>
      <p:pic>
        <p:nvPicPr>
          <p:cNvPr id="17" name="Image 1" descr="/home/claude/banking_os/icons/tasks.png"/>
          <p:cNvPicPr>
            <a:picLocks noChangeAspect="1"/>
          </p:cNvPicPr>
          <p:nvPr/>
        </p:nvPicPr>
        <p:blipFill>
          <a:blip r:embed="rId4"/>
          <a:stretch>
            <a:fillRect/>
          </a:stretch>
        </p:blipFill>
        <p:spPr>
          <a:xfrm>
            <a:off x="880110" y="3412998"/>
            <a:ext cx="251460" cy="251460"/>
          </a:xfrm>
          <a:prstGeom prst="rect">
            <a:avLst/>
          </a:prstGeom>
        </p:spPr>
      </p:pic>
      <p:sp>
        <p:nvSpPr>
          <p:cNvPr id="18" name="Text 14"/>
          <p:cNvSpPr/>
          <p:nvPr/>
        </p:nvSpPr>
        <p:spPr>
          <a:xfrm>
            <a:off x="1463040" y="3182112"/>
            <a:ext cx="5303520" cy="713232"/>
          </a:xfrm>
          <a:prstGeom prst="rect">
            <a:avLst/>
          </a:prstGeom>
          <a:noFill/>
          <a:ln/>
        </p:spPr>
        <p:txBody>
          <a:bodyPr wrap="square" rtlCol="0" anchor="ctr"/>
          <a:lstStyle/>
          <a:p>
            <a:pPr marL="0" indent="0">
              <a:buNone/>
            </a:pPr>
            <a:r>
              <a:rPr lang="en-US" sz="1400" b="1" dirty="0">
                <a:solidFill>
                  <a:srgbClr val="1B1B2F"/>
                </a:solidFill>
                <a:latin typeface="Calibri" pitchFamily="34" charset="0"/>
                <a:ea typeface="Calibri" pitchFamily="34" charset="-122"/>
                <a:cs typeface="Calibri" pitchFamily="34" charset="-120"/>
              </a:rPr>
              <a:t>Multiple Applications</a:t>
            </a:r>
            <a:endParaRPr lang="en-US" sz="1400" dirty="0"/>
          </a:p>
        </p:txBody>
      </p:sp>
      <p:sp>
        <p:nvSpPr>
          <p:cNvPr id="19" name="Shape 15"/>
          <p:cNvSpPr/>
          <p:nvPr/>
        </p:nvSpPr>
        <p:spPr>
          <a:xfrm>
            <a:off x="6949440" y="3346704"/>
            <a:ext cx="2286000" cy="384048"/>
          </a:xfrm>
          <a:prstGeom prst="roundRect">
            <a:avLst>
              <a:gd name="adj" fmla="val 50000"/>
            </a:avLst>
          </a:prstGeom>
          <a:solidFill>
            <a:srgbClr val="E4F7FA"/>
          </a:solidFill>
          <a:ln w="12700">
            <a:solidFill>
              <a:srgbClr val="00B4D8"/>
            </a:solidFill>
            <a:prstDash val="solid"/>
          </a:ln>
        </p:spPr>
      </p:sp>
      <p:sp>
        <p:nvSpPr>
          <p:cNvPr id="20" name="Text 16"/>
          <p:cNvSpPr/>
          <p:nvPr/>
        </p:nvSpPr>
        <p:spPr>
          <a:xfrm>
            <a:off x="6949440" y="3346704"/>
            <a:ext cx="2286000" cy="384048"/>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Multitasking</a:t>
            </a:r>
            <a:endParaRPr lang="en-US" sz="1400" dirty="0"/>
          </a:p>
        </p:txBody>
      </p:sp>
      <p:sp>
        <p:nvSpPr>
          <p:cNvPr id="21" name="Shape 17"/>
          <p:cNvSpPr/>
          <p:nvPr/>
        </p:nvSpPr>
        <p:spPr>
          <a:xfrm>
            <a:off x="548640" y="3895344"/>
            <a:ext cx="11064240" cy="713232"/>
          </a:xfrm>
          <a:prstGeom prst="rect">
            <a:avLst/>
          </a:prstGeom>
          <a:solidFill>
            <a:srgbClr val="F4F7FC"/>
          </a:solidFill>
          <a:ln/>
        </p:spPr>
      </p:sp>
      <p:sp>
        <p:nvSpPr>
          <p:cNvPr id="22" name="Shape 18"/>
          <p:cNvSpPr/>
          <p:nvPr/>
        </p:nvSpPr>
        <p:spPr>
          <a:xfrm>
            <a:off x="777240" y="4023360"/>
            <a:ext cx="457200" cy="457200"/>
          </a:xfrm>
          <a:prstGeom prst="ellipse">
            <a:avLst/>
          </a:prstGeom>
          <a:solidFill>
            <a:srgbClr val="FFFFFF"/>
          </a:solidFill>
          <a:ln/>
        </p:spPr>
      </p:sp>
      <p:pic>
        <p:nvPicPr>
          <p:cNvPr id="23" name="Image 2" descr="/home/claude/banking_os/icons/microchip.png"/>
          <p:cNvPicPr>
            <a:picLocks noChangeAspect="1"/>
          </p:cNvPicPr>
          <p:nvPr/>
        </p:nvPicPr>
        <p:blipFill>
          <a:blip r:embed="rId5"/>
          <a:stretch>
            <a:fillRect/>
          </a:stretch>
        </p:blipFill>
        <p:spPr>
          <a:xfrm>
            <a:off x="880110" y="4126230"/>
            <a:ext cx="251460" cy="251460"/>
          </a:xfrm>
          <a:prstGeom prst="rect">
            <a:avLst/>
          </a:prstGeom>
        </p:spPr>
      </p:pic>
      <p:sp>
        <p:nvSpPr>
          <p:cNvPr id="24" name="Text 19"/>
          <p:cNvSpPr/>
          <p:nvPr/>
        </p:nvSpPr>
        <p:spPr>
          <a:xfrm>
            <a:off x="1463040" y="3895344"/>
            <a:ext cx="5303520" cy="713232"/>
          </a:xfrm>
          <a:prstGeom prst="rect">
            <a:avLst/>
          </a:prstGeom>
          <a:noFill/>
          <a:ln/>
        </p:spPr>
        <p:txBody>
          <a:bodyPr wrap="square" rtlCol="0" anchor="ctr"/>
          <a:lstStyle/>
          <a:p>
            <a:pPr marL="0" indent="0">
              <a:buNone/>
            </a:pPr>
            <a:r>
              <a:rPr lang="en-US" sz="1400" b="1" dirty="0">
                <a:solidFill>
                  <a:srgbClr val="1B1B2F"/>
                </a:solidFill>
                <a:latin typeface="Calibri" pitchFamily="34" charset="0"/>
                <a:ea typeface="Calibri" pitchFamily="34" charset="-122"/>
                <a:cs typeface="Calibri" pitchFamily="34" charset="-120"/>
              </a:rPr>
              <a:t>High Performance</a:t>
            </a:r>
            <a:endParaRPr lang="en-US" sz="1400" dirty="0"/>
          </a:p>
        </p:txBody>
      </p:sp>
      <p:sp>
        <p:nvSpPr>
          <p:cNvPr id="25" name="Shape 20"/>
          <p:cNvSpPr/>
          <p:nvPr/>
        </p:nvSpPr>
        <p:spPr>
          <a:xfrm>
            <a:off x="6949440" y="4059936"/>
            <a:ext cx="2286000" cy="384048"/>
          </a:xfrm>
          <a:prstGeom prst="roundRect">
            <a:avLst>
              <a:gd name="adj" fmla="val 50000"/>
            </a:avLst>
          </a:prstGeom>
          <a:solidFill>
            <a:srgbClr val="E4F7FA"/>
          </a:solidFill>
          <a:ln w="12700">
            <a:solidFill>
              <a:srgbClr val="00B4D8"/>
            </a:solidFill>
            <a:prstDash val="solid"/>
          </a:ln>
        </p:spPr>
      </p:sp>
      <p:sp>
        <p:nvSpPr>
          <p:cNvPr id="26" name="Text 21"/>
          <p:cNvSpPr/>
          <p:nvPr/>
        </p:nvSpPr>
        <p:spPr>
          <a:xfrm>
            <a:off x="6949440" y="4059936"/>
            <a:ext cx="2286000" cy="384048"/>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Multiprocessing</a:t>
            </a:r>
            <a:endParaRPr lang="en-US" sz="1400" dirty="0"/>
          </a:p>
        </p:txBody>
      </p:sp>
      <p:sp>
        <p:nvSpPr>
          <p:cNvPr id="27" name="Shape 22"/>
          <p:cNvSpPr/>
          <p:nvPr/>
        </p:nvSpPr>
        <p:spPr>
          <a:xfrm>
            <a:off x="548640" y="4608576"/>
            <a:ext cx="11064240" cy="713232"/>
          </a:xfrm>
          <a:prstGeom prst="rect">
            <a:avLst/>
          </a:prstGeom>
          <a:solidFill>
            <a:srgbClr val="FFFFFF"/>
          </a:solidFill>
          <a:ln/>
        </p:spPr>
      </p:sp>
      <p:sp>
        <p:nvSpPr>
          <p:cNvPr id="28" name="Shape 23"/>
          <p:cNvSpPr/>
          <p:nvPr/>
        </p:nvSpPr>
        <p:spPr>
          <a:xfrm>
            <a:off x="777240" y="4736592"/>
            <a:ext cx="457200" cy="457200"/>
          </a:xfrm>
          <a:prstGeom prst="ellipse">
            <a:avLst/>
          </a:prstGeom>
          <a:solidFill>
            <a:srgbClr val="FFFFFF"/>
          </a:solidFill>
          <a:ln/>
        </p:spPr>
      </p:sp>
      <p:pic>
        <p:nvPicPr>
          <p:cNvPr id="29" name="Image 3" descr="/home/claude/banking_os/icons/network.png"/>
          <p:cNvPicPr>
            <a:picLocks noChangeAspect="1"/>
          </p:cNvPicPr>
          <p:nvPr/>
        </p:nvPicPr>
        <p:blipFill>
          <a:blip r:embed="rId6"/>
          <a:stretch>
            <a:fillRect/>
          </a:stretch>
        </p:blipFill>
        <p:spPr>
          <a:xfrm>
            <a:off x="880110" y="4839462"/>
            <a:ext cx="354330" cy="354330"/>
          </a:xfrm>
          <a:prstGeom prst="rect">
            <a:avLst/>
          </a:prstGeom>
        </p:spPr>
      </p:pic>
      <p:sp>
        <p:nvSpPr>
          <p:cNvPr id="30" name="Text 24"/>
          <p:cNvSpPr/>
          <p:nvPr/>
        </p:nvSpPr>
        <p:spPr>
          <a:xfrm>
            <a:off x="1463040" y="4608576"/>
            <a:ext cx="5303520" cy="713232"/>
          </a:xfrm>
          <a:prstGeom prst="rect">
            <a:avLst/>
          </a:prstGeom>
          <a:noFill/>
          <a:ln/>
        </p:spPr>
        <p:txBody>
          <a:bodyPr wrap="square" rtlCol="0" anchor="ctr"/>
          <a:lstStyle/>
          <a:p>
            <a:pPr marL="0" indent="0">
              <a:buNone/>
            </a:pPr>
            <a:r>
              <a:rPr lang="en-US" sz="1400" b="1" dirty="0">
                <a:solidFill>
                  <a:srgbClr val="1B1B2F"/>
                </a:solidFill>
                <a:latin typeface="Calibri" pitchFamily="34" charset="0"/>
                <a:ea typeface="Calibri" pitchFamily="34" charset="-122"/>
                <a:cs typeface="Calibri" pitchFamily="34" charset="-120"/>
              </a:rPr>
              <a:t>Multiple Branches</a:t>
            </a:r>
            <a:endParaRPr lang="en-US" sz="1400" dirty="0"/>
          </a:p>
        </p:txBody>
      </p:sp>
      <p:sp>
        <p:nvSpPr>
          <p:cNvPr id="31" name="Shape 25"/>
          <p:cNvSpPr/>
          <p:nvPr/>
        </p:nvSpPr>
        <p:spPr>
          <a:xfrm>
            <a:off x="6949440" y="4773168"/>
            <a:ext cx="2286000" cy="384048"/>
          </a:xfrm>
          <a:prstGeom prst="roundRect">
            <a:avLst>
              <a:gd name="adj" fmla="val 50000"/>
            </a:avLst>
          </a:prstGeom>
          <a:solidFill>
            <a:srgbClr val="E4F7FA"/>
          </a:solidFill>
          <a:ln w="12700">
            <a:solidFill>
              <a:srgbClr val="00B4D8"/>
            </a:solidFill>
            <a:prstDash val="solid"/>
          </a:ln>
        </p:spPr>
      </p:sp>
      <p:sp>
        <p:nvSpPr>
          <p:cNvPr id="32" name="Text 26"/>
          <p:cNvSpPr/>
          <p:nvPr/>
        </p:nvSpPr>
        <p:spPr>
          <a:xfrm>
            <a:off x="6949440" y="4773168"/>
            <a:ext cx="2286000" cy="384048"/>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Distributed</a:t>
            </a:r>
            <a:endParaRPr lang="en-US" sz="1400" dirty="0"/>
          </a:p>
        </p:txBody>
      </p:sp>
      <p:sp>
        <p:nvSpPr>
          <p:cNvPr id="33" name="Shape 27"/>
          <p:cNvSpPr/>
          <p:nvPr/>
        </p:nvSpPr>
        <p:spPr>
          <a:xfrm>
            <a:off x="548640" y="5321808"/>
            <a:ext cx="11064240" cy="713232"/>
          </a:xfrm>
          <a:prstGeom prst="rect">
            <a:avLst/>
          </a:prstGeom>
          <a:solidFill>
            <a:srgbClr val="F4F7FC"/>
          </a:solidFill>
          <a:ln/>
        </p:spPr>
      </p:sp>
      <p:sp>
        <p:nvSpPr>
          <p:cNvPr id="34" name="Shape 28"/>
          <p:cNvSpPr/>
          <p:nvPr/>
        </p:nvSpPr>
        <p:spPr>
          <a:xfrm>
            <a:off x="777240" y="5449824"/>
            <a:ext cx="457200" cy="457200"/>
          </a:xfrm>
          <a:prstGeom prst="ellipse">
            <a:avLst/>
          </a:prstGeom>
          <a:solidFill>
            <a:srgbClr val="FFFFFF"/>
          </a:solidFill>
          <a:ln/>
        </p:spPr>
      </p:sp>
      <p:pic>
        <p:nvPicPr>
          <p:cNvPr id="35" name="Image 4" descr="/home/claude/banking_os/icons/clock_navy.png"/>
          <p:cNvPicPr>
            <a:picLocks noChangeAspect="1"/>
          </p:cNvPicPr>
          <p:nvPr/>
        </p:nvPicPr>
        <p:blipFill>
          <a:blip r:embed="rId7"/>
          <a:stretch>
            <a:fillRect/>
          </a:stretch>
        </p:blipFill>
        <p:spPr>
          <a:xfrm>
            <a:off x="880110" y="5552694"/>
            <a:ext cx="251460" cy="251460"/>
          </a:xfrm>
          <a:prstGeom prst="rect">
            <a:avLst/>
          </a:prstGeom>
        </p:spPr>
      </p:pic>
      <p:sp>
        <p:nvSpPr>
          <p:cNvPr id="36" name="Text 29"/>
          <p:cNvSpPr/>
          <p:nvPr/>
        </p:nvSpPr>
        <p:spPr>
          <a:xfrm>
            <a:off x="1463040" y="5321808"/>
            <a:ext cx="5303520" cy="713232"/>
          </a:xfrm>
          <a:prstGeom prst="rect">
            <a:avLst/>
          </a:prstGeom>
          <a:noFill/>
          <a:ln/>
        </p:spPr>
        <p:txBody>
          <a:bodyPr wrap="square" rtlCol="0" anchor="ctr"/>
          <a:lstStyle/>
          <a:p>
            <a:pPr marL="0" indent="0">
              <a:buNone/>
            </a:pPr>
            <a:r>
              <a:rPr lang="en-US" sz="1400" b="1" dirty="0">
                <a:solidFill>
                  <a:srgbClr val="1B1B2F"/>
                </a:solidFill>
                <a:latin typeface="Calibri" pitchFamily="34" charset="0"/>
                <a:ea typeface="Calibri" pitchFamily="34" charset="-122"/>
                <a:cs typeface="Calibri" pitchFamily="34" charset="-120"/>
              </a:rPr>
              <a:t>Fast Response</a:t>
            </a:r>
            <a:endParaRPr lang="en-US" sz="1400" dirty="0"/>
          </a:p>
        </p:txBody>
      </p:sp>
      <p:sp>
        <p:nvSpPr>
          <p:cNvPr id="37" name="Shape 30"/>
          <p:cNvSpPr/>
          <p:nvPr/>
        </p:nvSpPr>
        <p:spPr>
          <a:xfrm>
            <a:off x="6949440" y="5486400"/>
            <a:ext cx="2286000" cy="384048"/>
          </a:xfrm>
          <a:prstGeom prst="roundRect">
            <a:avLst>
              <a:gd name="adj" fmla="val 50000"/>
            </a:avLst>
          </a:prstGeom>
          <a:solidFill>
            <a:srgbClr val="E4F7FA"/>
          </a:solidFill>
          <a:ln w="12700">
            <a:solidFill>
              <a:srgbClr val="00B4D8"/>
            </a:solidFill>
            <a:prstDash val="solid"/>
          </a:ln>
        </p:spPr>
      </p:sp>
      <p:sp>
        <p:nvSpPr>
          <p:cNvPr id="38" name="Text 31"/>
          <p:cNvSpPr/>
          <p:nvPr/>
        </p:nvSpPr>
        <p:spPr>
          <a:xfrm>
            <a:off x="6949440" y="5486400"/>
            <a:ext cx="2286000" cy="384048"/>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Real-Time</a:t>
            </a:r>
            <a:endParaRPr lang="en-US" sz="1400" dirty="0"/>
          </a:p>
        </p:txBody>
      </p:sp>
      <p:sp>
        <p:nvSpPr>
          <p:cNvPr id="39" name="Shape 32"/>
          <p:cNvSpPr/>
          <p:nvPr/>
        </p:nvSpPr>
        <p:spPr>
          <a:xfrm>
            <a:off x="548640" y="6035040"/>
            <a:ext cx="11064240" cy="0"/>
          </a:xfrm>
          <a:prstGeom prst="line">
            <a:avLst/>
          </a:prstGeom>
          <a:noFill/>
          <a:ln w="12700">
            <a:solidFill>
              <a:srgbClr val="D9DEE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FOUNDATIONS</a:t>
            </a:r>
            <a:endParaRPr lang="en-US" sz="14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Types of Operating Systems Suitable for Banking</a:t>
            </a:r>
            <a:endParaRPr lang="en-US" sz="2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400" dirty="0">
                <a:solidFill>
                  <a:srgbClr val="5A6472"/>
                </a:solidFill>
                <a:latin typeface="Calibri" pitchFamily="34" charset="0"/>
                <a:ea typeface="Calibri" pitchFamily="34" charset="-122"/>
                <a:cs typeface="Calibri" pitchFamily="34" charset="-120"/>
              </a:rPr>
              <a:t>04</a:t>
            </a:r>
            <a:endParaRPr lang="en-US" sz="1400" dirty="0"/>
          </a:p>
        </p:txBody>
      </p:sp>
      <p:sp>
        <p:nvSpPr>
          <p:cNvPr id="5" name="Shape 3"/>
          <p:cNvSpPr/>
          <p:nvPr/>
        </p:nvSpPr>
        <p:spPr>
          <a:xfrm>
            <a:off x="548640" y="1481328"/>
            <a:ext cx="11064240" cy="804672"/>
          </a:xfrm>
          <a:prstGeom prst="roundRect">
            <a:avLst>
              <a:gd name="adj" fmla="val 7955"/>
            </a:avLst>
          </a:prstGeom>
          <a:solidFill>
            <a:srgbClr val="F4F7FC"/>
          </a:solidFill>
          <a:ln w="9525">
            <a:solidFill>
              <a:srgbClr val="F4F7FC"/>
            </a:solidFill>
            <a:prstDash val="solid"/>
          </a:ln>
        </p:spPr>
      </p:sp>
      <p:sp>
        <p:nvSpPr>
          <p:cNvPr id="6" name="Shape 4"/>
          <p:cNvSpPr/>
          <p:nvPr/>
        </p:nvSpPr>
        <p:spPr>
          <a:xfrm>
            <a:off x="713232" y="1609344"/>
            <a:ext cx="548640" cy="548640"/>
          </a:xfrm>
          <a:prstGeom prst="ellipse">
            <a:avLst/>
          </a:prstGeom>
          <a:solidFill>
            <a:srgbClr val="FFFFFF"/>
          </a:solidFill>
          <a:ln/>
        </p:spPr>
      </p:sp>
      <p:pic>
        <p:nvPicPr>
          <p:cNvPr id="7" name="Image 0" descr="/home/claude/banking_os/icons/users_navy.png"/>
          <p:cNvPicPr>
            <a:picLocks noChangeAspect="1"/>
          </p:cNvPicPr>
          <p:nvPr/>
        </p:nvPicPr>
        <p:blipFill>
          <a:blip r:embed="rId3"/>
          <a:stretch>
            <a:fillRect/>
          </a:stretch>
        </p:blipFill>
        <p:spPr>
          <a:xfrm>
            <a:off x="836676" y="1732788"/>
            <a:ext cx="301752" cy="301752"/>
          </a:xfrm>
          <a:prstGeom prst="rect">
            <a:avLst/>
          </a:prstGeom>
        </p:spPr>
      </p:pic>
      <p:sp>
        <p:nvSpPr>
          <p:cNvPr id="8" name="Text 5"/>
          <p:cNvSpPr/>
          <p:nvPr/>
        </p:nvSpPr>
        <p:spPr>
          <a:xfrm>
            <a:off x="713232" y="1609344"/>
            <a:ext cx="548640" cy="548640"/>
          </a:xfrm>
          <a:prstGeom prst="rect">
            <a:avLst/>
          </a:prstGeom>
          <a:noFill/>
          <a:ln/>
        </p:spPr>
        <p:txBody>
          <a:bodyPr wrap="square" rtlCol="0" anchor="t"/>
          <a:lstStyle/>
          <a:p>
            <a:pPr marL="0" indent="0" algn="ctr">
              <a:buNone/>
            </a:pPr>
            <a:r>
              <a:rPr lang="en-US" sz="1400" b="1" dirty="0">
                <a:solidFill>
                  <a:srgbClr val="00B4D8"/>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508760" y="1572768"/>
            <a:ext cx="3749040" cy="62179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Multiuser Operating System</a:t>
            </a:r>
            <a:endParaRPr lang="en-US" sz="1400" dirty="0"/>
          </a:p>
        </p:txBody>
      </p:sp>
      <p:sp>
        <p:nvSpPr>
          <p:cNvPr id="10" name="Text 7"/>
          <p:cNvSpPr/>
          <p:nvPr/>
        </p:nvSpPr>
        <p:spPr>
          <a:xfrm>
            <a:off x="5349240" y="1572768"/>
            <a:ext cx="6080760" cy="621792"/>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Allows thousands of customers to access services simultaneously.</a:t>
            </a:r>
            <a:endParaRPr lang="en-US" sz="1400" dirty="0"/>
          </a:p>
        </p:txBody>
      </p:sp>
      <p:sp>
        <p:nvSpPr>
          <p:cNvPr id="11" name="Shape 8"/>
          <p:cNvSpPr/>
          <p:nvPr/>
        </p:nvSpPr>
        <p:spPr>
          <a:xfrm>
            <a:off x="548640" y="2414016"/>
            <a:ext cx="11064240" cy="804672"/>
          </a:xfrm>
          <a:prstGeom prst="roundRect">
            <a:avLst>
              <a:gd name="adj" fmla="val 7955"/>
            </a:avLst>
          </a:prstGeom>
          <a:solidFill>
            <a:srgbClr val="FFFFFF"/>
          </a:solidFill>
          <a:ln w="9525">
            <a:solidFill>
              <a:srgbClr val="E5E9F2"/>
            </a:solidFill>
            <a:prstDash val="solid"/>
          </a:ln>
        </p:spPr>
      </p:sp>
      <p:sp>
        <p:nvSpPr>
          <p:cNvPr id="12" name="Shape 9"/>
          <p:cNvSpPr/>
          <p:nvPr/>
        </p:nvSpPr>
        <p:spPr>
          <a:xfrm>
            <a:off x="713232" y="2542032"/>
            <a:ext cx="548640" cy="548640"/>
          </a:xfrm>
          <a:prstGeom prst="ellipse">
            <a:avLst/>
          </a:prstGeom>
          <a:solidFill>
            <a:srgbClr val="FFFFFF"/>
          </a:solidFill>
          <a:ln/>
        </p:spPr>
      </p:sp>
      <p:pic>
        <p:nvPicPr>
          <p:cNvPr id="13" name="Image 1" descr="/home/claude/banking_os/icons/tasks.png"/>
          <p:cNvPicPr>
            <a:picLocks noChangeAspect="1"/>
          </p:cNvPicPr>
          <p:nvPr/>
        </p:nvPicPr>
        <p:blipFill>
          <a:blip r:embed="rId4"/>
          <a:stretch>
            <a:fillRect/>
          </a:stretch>
        </p:blipFill>
        <p:spPr>
          <a:xfrm>
            <a:off x="836676" y="2665476"/>
            <a:ext cx="301752" cy="301752"/>
          </a:xfrm>
          <a:prstGeom prst="rect">
            <a:avLst/>
          </a:prstGeom>
        </p:spPr>
      </p:pic>
      <p:sp>
        <p:nvSpPr>
          <p:cNvPr id="14" name="Text 10"/>
          <p:cNvSpPr/>
          <p:nvPr/>
        </p:nvSpPr>
        <p:spPr>
          <a:xfrm>
            <a:off x="713232" y="2542032"/>
            <a:ext cx="548640" cy="548640"/>
          </a:xfrm>
          <a:prstGeom prst="rect">
            <a:avLst/>
          </a:prstGeom>
          <a:noFill/>
          <a:ln/>
        </p:spPr>
        <p:txBody>
          <a:bodyPr wrap="square" rtlCol="0" anchor="t"/>
          <a:lstStyle/>
          <a:p>
            <a:pPr marL="0" indent="0" algn="ctr">
              <a:buNone/>
            </a:pPr>
            <a:r>
              <a:rPr lang="en-US" sz="1400" b="1" dirty="0">
                <a:solidFill>
                  <a:srgbClr val="00B4D8"/>
                </a:solidFill>
                <a:latin typeface="Calibri" pitchFamily="34" charset="0"/>
                <a:ea typeface="Calibri" pitchFamily="34" charset="-122"/>
                <a:cs typeface="Calibri" pitchFamily="34" charset="-120"/>
              </a:rPr>
              <a:t>2</a:t>
            </a:r>
            <a:endParaRPr lang="en-US" sz="1400" dirty="0"/>
          </a:p>
        </p:txBody>
      </p:sp>
      <p:sp>
        <p:nvSpPr>
          <p:cNvPr id="15" name="Text 11"/>
          <p:cNvSpPr/>
          <p:nvPr/>
        </p:nvSpPr>
        <p:spPr>
          <a:xfrm>
            <a:off x="1508760" y="2505456"/>
            <a:ext cx="3749040" cy="62179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Multitasking Operating System</a:t>
            </a:r>
            <a:endParaRPr lang="en-US" sz="1400" dirty="0"/>
          </a:p>
        </p:txBody>
      </p:sp>
      <p:sp>
        <p:nvSpPr>
          <p:cNvPr id="16" name="Text 12"/>
          <p:cNvSpPr/>
          <p:nvPr/>
        </p:nvSpPr>
        <p:spPr>
          <a:xfrm>
            <a:off x="5349240" y="2505456"/>
            <a:ext cx="6080760" cy="621792"/>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Runs many banking applications concurrently.</a:t>
            </a:r>
            <a:endParaRPr lang="en-US" sz="1400" dirty="0"/>
          </a:p>
        </p:txBody>
      </p:sp>
      <p:sp>
        <p:nvSpPr>
          <p:cNvPr id="17" name="Shape 13"/>
          <p:cNvSpPr/>
          <p:nvPr/>
        </p:nvSpPr>
        <p:spPr>
          <a:xfrm>
            <a:off x="548640" y="3346704"/>
            <a:ext cx="11064240" cy="804672"/>
          </a:xfrm>
          <a:prstGeom prst="roundRect">
            <a:avLst>
              <a:gd name="adj" fmla="val 7955"/>
            </a:avLst>
          </a:prstGeom>
          <a:solidFill>
            <a:srgbClr val="F4F7FC"/>
          </a:solidFill>
          <a:ln w="9525">
            <a:solidFill>
              <a:srgbClr val="F4F7FC"/>
            </a:solidFill>
            <a:prstDash val="solid"/>
          </a:ln>
        </p:spPr>
      </p:sp>
      <p:sp>
        <p:nvSpPr>
          <p:cNvPr id="18" name="Shape 14"/>
          <p:cNvSpPr/>
          <p:nvPr/>
        </p:nvSpPr>
        <p:spPr>
          <a:xfrm>
            <a:off x="713232" y="3474720"/>
            <a:ext cx="548640" cy="548640"/>
          </a:xfrm>
          <a:prstGeom prst="ellipse">
            <a:avLst/>
          </a:prstGeom>
          <a:solidFill>
            <a:srgbClr val="FFFFFF"/>
          </a:solidFill>
          <a:ln/>
        </p:spPr>
      </p:sp>
      <p:pic>
        <p:nvPicPr>
          <p:cNvPr id="19" name="Image 2" descr="/home/claude/banking_os/icons/microchip.png"/>
          <p:cNvPicPr>
            <a:picLocks noChangeAspect="1"/>
          </p:cNvPicPr>
          <p:nvPr/>
        </p:nvPicPr>
        <p:blipFill>
          <a:blip r:embed="rId5"/>
          <a:stretch>
            <a:fillRect/>
          </a:stretch>
        </p:blipFill>
        <p:spPr>
          <a:xfrm>
            <a:off x="836676" y="3598164"/>
            <a:ext cx="301752" cy="301752"/>
          </a:xfrm>
          <a:prstGeom prst="rect">
            <a:avLst/>
          </a:prstGeom>
        </p:spPr>
      </p:pic>
      <p:sp>
        <p:nvSpPr>
          <p:cNvPr id="20" name="Text 15"/>
          <p:cNvSpPr/>
          <p:nvPr/>
        </p:nvSpPr>
        <p:spPr>
          <a:xfrm>
            <a:off x="713232" y="3474720"/>
            <a:ext cx="548640" cy="548640"/>
          </a:xfrm>
          <a:prstGeom prst="rect">
            <a:avLst/>
          </a:prstGeom>
          <a:noFill/>
          <a:ln/>
        </p:spPr>
        <p:txBody>
          <a:bodyPr wrap="square" rtlCol="0" anchor="t"/>
          <a:lstStyle/>
          <a:p>
            <a:pPr marL="0" indent="0" algn="ctr">
              <a:buNone/>
            </a:pPr>
            <a:r>
              <a:rPr lang="en-US" sz="1400" b="1" dirty="0">
                <a:solidFill>
                  <a:srgbClr val="00B4D8"/>
                </a:solidFill>
                <a:latin typeface="Calibri" pitchFamily="34" charset="0"/>
                <a:ea typeface="Calibri" pitchFamily="34" charset="-122"/>
                <a:cs typeface="Calibri" pitchFamily="34" charset="-120"/>
              </a:rPr>
              <a:t>3</a:t>
            </a:r>
            <a:endParaRPr lang="en-US" sz="1400" dirty="0"/>
          </a:p>
        </p:txBody>
      </p:sp>
      <p:sp>
        <p:nvSpPr>
          <p:cNvPr id="21" name="Text 16"/>
          <p:cNvSpPr/>
          <p:nvPr/>
        </p:nvSpPr>
        <p:spPr>
          <a:xfrm>
            <a:off x="1508760" y="3438144"/>
            <a:ext cx="3749040" cy="62179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Multiprocessing Operating System</a:t>
            </a:r>
            <a:endParaRPr lang="en-US" sz="1400" dirty="0"/>
          </a:p>
        </p:txBody>
      </p:sp>
      <p:sp>
        <p:nvSpPr>
          <p:cNvPr id="22" name="Text 17"/>
          <p:cNvSpPr/>
          <p:nvPr/>
        </p:nvSpPr>
        <p:spPr>
          <a:xfrm>
            <a:off x="5349240" y="3438144"/>
            <a:ext cx="6080760" cy="621792"/>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Utilizes multiple CPU cores for faster processing.</a:t>
            </a:r>
            <a:endParaRPr lang="en-US" sz="1400" dirty="0"/>
          </a:p>
        </p:txBody>
      </p:sp>
      <p:sp>
        <p:nvSpPr>
          <p:cNvPr id="23" name="Shape 18"/>
          <p:cNvSpPr/>
          <p:nvPr/>
        </p:nvSpPr>
        <p:spPr>
          <a:xfrm>
            <a:off x="548640" y="4279392"/>
            <a:ext cx="11064240" cy="804672"/>
          </a:xfrm>
          <a:prstGeom prst="roundRect">
            <a:avLst>
              <a:gd name="adj" fmla="val 7955"/>
            </a:avLst>
          </a:prstGeom>
          <a:solidFill>
            <a:srgbClr val="FFFFFF"/>
          </a:solidFill>
          <a:ln w="9525">
            <a:solidFill>
              <a:srgbClr val="E5E9F2"/>
            </a:solidFill>
            <a:prstDash val="solid"/>
          </a:ln>
        </p:spPr>
      </p:sp>
      <p:sp>
        <p:nvSpPr>
          <p:cNvPr id="24" name="Shape 19"/>
          <p:cNvSpPr/>
          <p:nvPr/>
        </p:nvSpPr>
        <p:spPr>
          <a:xfrm>
            <a:off x="713232" y="4407408"/>
            <a:ext cx="548640" cy="548640"/>
          </a:xfrm>
          <a:prstGeom prst="ellipse">
            <a:avLst/>
          </a:prstGeom>
          <a:solidFill>
            <a:srgbClr val="FFFFFF"/>
          </a:solidFill>
          <a:ln/>
        </p:spPr>
      </p:sp>
      <p:pic>
        <p:nvPicPr>
          <p:cNvPr id="25" name="Image 3" descr="/home/claude/banking_os/icons/network.png"/>
          <p:cNvPicPr>
            <a:picLocks noChangeAspect="1"/>
          </p:cNvPicPr>
          <p:nvPr/>
        </p:nvPicPr>
        <p:blipFill>
          <a:blip r:embed="rId6"/>
          <a:stretch>
            <a:fillRect/>
          </a:stretch>
        </p:blipFill>
        <p:spPr>
          <a:xfrm>
            <a:off x="836676" y="4530852"/>
            <a:ext cx="301752" cy="301752"/>
          </a:xfrm>
          <a:prstGeom prst="rect">
            <a:avLst/>
          </a:prstGeom>
        </p:spPr>
      </p:pic>
      <p:sp>
        <p:nvSpPr>
          <p:cNvPr id="26" name="Text 20"/>
          <p:cNvSpPr/>
          <p:nvPr/>
        </p:nvSpPr>
        <p:spPr>
          <a:xfrm>
            <a:off x="713232" y="4407408"/>
            <a:ext cx="548640" cy="548640"/>
          </a:xfrm>
          <a:prstGeom prst="rect">
            <a:avLst/>
          </a:prstGeom>
          <a:noFill/>
          <a:ln/>
        </p:spPr>
        <p:txBody>
          <a:bodyPr wrap="square" rtlCol="0" anchor="t"/>
          <a:lstStyle/>
          <a:p>
            <a:pPr marL="0" indent="0" algn="ctr">
              <a:buNone/>
            </a:pPr>
            <a:r>
              <a:rPr lang="en-US" sz="1400" b="1" dirty="0">
                <a:solidFill>
                  <a:srgbClr val="00B4D8"/>
                </a:solidFill>
                <a:latin typeface="Calibri" pitchFamily="34" charset="0"/>
                <a:ea typeface="Calibri" pitchFamily="34" charset="-122"/>
                <a:cs typeface="Calibri" pitchFamily="34" charset="-120"/>
              </a:rPr>
              <a:t>4</a:t>
            </a:r>
            <a:endParaRPr lang="en-US" sz="1400" dirty="0"/>
          </a:p>
        </p:txBody>
      </p:sp>
      <p:sp>
        <p:nvSpPr>
          <p:cNvPr id="27" name="Text 21"/>
          <p:cNvSpPr/>
          <p:nvPr/>
        </p:nvSpPr>
        <p:spPr>
          <a:xfrm>
            <a:off x="1508760" y="4370832"/>
            <a:ext cx="3749040" cy="62179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Distributed Operating System</a:t>
            </a:r>
            <a:endParaRPr lang="en-US" sz="1400" dirty="0"/>
          </a:p>
        </p:txBody>
      </p:sp>
      <p:sp>
        <p:nvSpPr>
          <p:cNvPr id="28" name="Text 22"/>
          <p:cNvSpPr/>
          <p:nvPr/>
        </p:nvSpPr>
        <p:spPr>
          <a:xfrm>
            <a:off x="5349240" y="4370832"/>
            <a:ext cx="6080760" cy="621792"/>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Connects multiple servers and banking branches.</a:t>
            </a:r>
            <a:endParaRPr lang="en-US" sz="1400" dirty="0"/>
          </a:p>
        </p:txBody>
      </p:sp>
      <p:sp>
        <p:nvSpPr>
          <p:cNvPr id="29" name="Shape 23"/>
          <p:cNvSpPr/>
          <p:nvPr/>
        </p:nvSpPr>
        <p:spPr>
          <a:xfrm>
            <a:off x="548640" y="5212080"/>
            <a:ext cx="11064240" cy="804672"/>
          </a:xfrm>
          <a:prstGeom prst="roundRect">
            <a:avLst>
              <a:gd name="adj" fmla="val 7955"/>
            </a:avLst>
          </a:prstGeom>
          <a:solidFill>
            <a:srgbClr val="F4F7FC"/>
          </a:solidFill>
          <a:ln w="9525">
            <a:solidFill>
              <a:srgbClr val="F4F7FC"/>
            </a:solidFill>
            <a:prstDash val="solid"/>
          </a:ln>
        </p:spPr>
      </p:sp>
      <p:sp>
        <p:nvSpPr>
          <p:cNvPr id="30" name="Shape 24"/>
          <p:cNvSpPr/>
          <p:nvPr/>
        </p:nvSpPr>
        <p:spPr>
          <a:xfrm>
            <a:off x="713232" y="5340096"/>
            <a:ext cx="548640" cy="548640"/>
          </a:xfrm>
          <a:prstGeom prst="ellipse">
            <a:avLst/>
          </a:prstGeom>
          <a:solidFill>
            <a:srgbClr val="FFFFFF"/>
          </a:solidFill>
          <a:ln/>
        </p:spPr>
      </p:sp>
      <p:pic>
        <p:nvPicPr>
          <p:cNvPr id="31" name="Image 4" descr="/home/claude/banking_os/icons/clock_navy.png"/>
          <p:cNvPicPr>
            <a:picLocks noChangeAspect="1"/>
          </p:cNvPicPr>
          <p:nvPr/>
        </p:nvPicPr>
        <p:blipFill>
          <a:blip r:embed="rId7"/>
          <a:stretch>
            <a:fillRect/>
          </a:stretch>
        </p:blipFill>
        <p:spPr>
          <a:xfrm>
            <a:off x="836676" y="5463540"/>
            <a:ext cx="301752" cy="301752"/>
          </a:xfrm>
          <a:prstGeom prst="rect">
            <a:avLst/>
          </a:prstGeom>
        </p:spPr>
      </p:pic>
      <p:sp>
        <p:nvSpPr>
          <p:cNvPr id="32" name="Text 25"/>
          <p:cNvSpPr/>
          <p:nvPr/>
        </p:nvSpPr>
        <p:spPr>
          <a:xfrm>
            <a:off x="713232" y="5340096"/>
            <a:ext cx="548640" cy="548640"/>
          </a:xfrm>
          <a:prstGeom prst="rect">
            <a:avLst/>
          </a:prstGeom>
          <a:noFill/>
          <a:ln/>
        </p:spPr>
        <p:txBody>
          <a:bodyPr wrap="square" rtlCol="0" anchor="t"/>
          <a:lstStyle/>
          <a:p>
            <a:pPr marL="0" indent="0" algn="ctr">
              <a:buNone/>
            </a:pPr>
            <a:r>
              <a:rPr lang="en-US" sz="1400" b="1" dirty="0">
                <a:solidFill>
                  <a:srgbClr val="00B4D8"/>
                </a:solidFill>
                <a:latin typeface="Calibri" pitchFamily="34" charset="0"/>
                <a:ea typeface="Calibri" pitchFamily="34" charset="-122"/>
                <a:cs typeface="Calibri" pitchFamily="34" charset="-120"/>
              </a:rPr>
              <a:t>5</a:t>
            </a:r>
            <a:endParaRPr lang="en-US" sz="1400" dirty="0"/>
          </a:p>
        </p:txBody>
      </p:sp>
      <p:sp>
        <p:nvSpPr>
          <p:cNvPr id="33" name="Text 26"/>
          <p:cNvSpPr/>
          <p:nvPr/>
        </p:nvSpPr>
        <p:spPr>
          <a:xfrm>
            <a:off x="1508760" y="5303520"/>
            <a:ext cx="3749040" cy="621792"/>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Real-Time Operating System</a:t>
            </a:r>
            <a:endParaRPr lang="en-US" sz="1400" dirty="0"/>
          </a:p>
        </p:txBody>
      </p:sp>
      <p:sp>
        <p:nvSpPr>
          <p:cNvPr id="34" name="Text 27"/>
          <p:cNvSpPr/>
          <p:nvPr/>
        </p:nvSpPr>
        <p:spPr>
          <a:xfrm>
            <a:off x="5349240" y="5303520"/>
            <a:ext cx="6080760" cy="621792"/>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Used in ATMs, payment gateways, and POS devices requiring immediate responses.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600" b="1" kern="0" spc="200" dirty="0">
                <a:solidFill>
                  <a:srgbClr val="00B4D8"/>
                </a:solidFill>
                <a:latin typeface="Calibri" pitchFamily="34" charset="0"/>
                <a:ea typeface="Calibri" pitchFamily="34" charset="-122"/>
                <a:cs typeface="Calibri" pitchFamily="34" charset="-120"/>
              </a:rPr>
              <a:t>ARCHITECTURE</a:t>
            </a:r>
            <a:endParaRPr lang="en-US" sz="16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Operating System Structure</a:t>
            </a:r>
            <a:endParaRPr lang="en-US" sz="2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600" dirty="0">
                <a:solidFill>
                  <a:srgbClr val="5A6472"/>
                </a:solidFill>
                <a:latin typeface="Calibri" pitchFamily="34" charset="0"/>
                <a:ea typeface="Calibri" pitchFamily="34" charset="-122"/>
                <a:cs typeface="Calibri" pitchFamily="34" charset="-120"/>
              </a:rPr>
              <a:t>06</a:t>
            </a:r>
            <a:endParaRPr lang="en-US" sz="1600" dirty="0"/>
          </a:p>
        </p:txBody>
      </p:sp>
      <p:sp>
        <p:nvSpPr>
          <p:cNvPr id="5" name="Text 3"/>
          <p:cNvSpPr/>
          <p:nvPr/>
        </p:nvSpPr>
        <p:spPr>
          <a:xfrm>
            <a:off x="548640" y="1417320"/>
            <a:ext cx="5120640" cy="320040"/>
          </a:xfrm>
          <a:prstGeom prst="rect">
            <a:avLst/>
          </a:prstGeom>
          <a:noFill/>
          <a:ln/>
        </p:spPr>
        <p:txBody>
          <a:bodyPr wrap="square" rtlCol="0" anchor="ctr"/>
          <a:lstStyle/>
          <a:p>
            <a:pPr marL="0" indent="0">
              <a:buNone/>
            </a:pPr>
            <a:r>
              <a:rPr lang="en-US" sz="1600" b="1" dirty="0">
                <a:solidFill>
                  <a:srgbClr val="1B1B2F"/>
                </a:solidFill>
                <a:latin typeface="Calibri" pitchFamily="34" charset="0"/>
                <a:ea typeface="Calibri" pitchFamily="34" charset="-122"/>
                <a:cs typeface="Calibri" pitchFamily="34" charset="-120"/>
              </a:rPr>
              <a:t>Banking systems commonly run on:</a:t>
            </a:r>
            <a:endParaRPr lang="en-US" sz="1600" dirty="0"/>
          </a:p>
        </p:txBody>
      </p:sp>
      <p:sp>
        <p:nvSpPr>
          <p:cNvPr id="6" name="Shape 4"/>
          <p:cNvSpPr/>
          <p:nvPr/>
        </p:nvSpPr>
        <p:spPr>
          <a:xfrm>
            <a:off x="487680" y="2707203"/>
            <a:ext cx="1600200" cy="914400"/>
          </a:xfrm>
          <a:prstGeom prst="roundRect">
            <a:avLst>
              <a:gd name="adj" fmla="val 8000"/>
            </a:avLst>
          </a:prstGeom>
          <a:solidFill>
            <a:srgbClr val="F4F7FC"/>
          </a:solidFill>
          <a:ln/>
        </p:spPr>
      </p:sp>
      <p:pic>
        <p:nvPicPr>
          <p:cNvPr id="7" name="Image 0" descr="/home/claude/banking_os/icons/linux.png"/>
          <p:cNvPicPr>
            <a:picLocks noChangeAspect="1"/>
          </p:cNvPicPr>
          <p:nvPr/>
        </p:nvPicPr>
        <p:blipFill>
          <a:blip r:embed="rId3"/>
          <a:stretch>
            <a:fillRect/>
          </a:stretch>
        </p:blipFill>
        <p:spPr>
          <a:xfrm>
            <a:off x="1054608" y="2798643"/>
            <a:ext cx="457200" cy="457200"/>
          </a:xfrm>
          <a:prstGeom prst="rect">
            <a:avLst/>
          </a:prstGeom>
        </p:spPr>
      </p:pic>
      <p:sp>
        <p:nvSpPr>
          <p:cNvPr id="8" name="Text 5"/>
          <p:cNvSpPr/>
          <p:nvPr/>
        </p:nvSpPr>
        <p:spPr>
          <a:xfrm>
            <a:off x="487680" y="3274131"/>
            <a:ext cx="1600200"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Linux</a:t>
            </a:r>
            <a:endParaRPr lang="en-US" sz="1600" dirty="0"/>
          </a:p>
        </p:txBody>
      </p:sp>
      <p:sp>
        <p:nvSpPr>
          <p:cNvPr id="9" name="Shape 6"/>
          <p:cNvSpPr/>
          <p:nvPr/>
        </p:nvSpPr>
        <p:spPr>
          <a:xfrm>
            <a:off x="2270760" y="2707203"/>
            <a:ext cx="1600200" cy="914400"/>
          </a:xfrm>
          <a:prstGeom prst="roundRect">
            <a:avLst>
              <a:gd name="adj" fmla="val 8000"/>
            </a:avLst>
          </a:prstGeom>
          <a:solidFill>
            <a:srgbClr val="F4F7FC"/>
          </a:solidFill>
          <a:ln/>
        </p:spPr>
      </p:sp>
      <p:pic>
        <p:nvPicPr>
          <p:cNvPr id="10" name="Image 1" descr="/home/claude/banking_os/icons/redhat.png"/>
          <p:cNvPicPr>
            <a:picLocks noChangeAspect="1"/>
          </p:cNvPicPr>
          <p:nvPr/>
        </p:nvPicPr>
        <p:blipFill>
          <a:blip r:embed="rId4"/>
          <a:stretch>
            <a:fillRect/>
          </a:stretch>
        </p:blipFill>
        <p:spPr>
          <a:xfrm>
            <a:off x="2837688" y="2798643"/>
            <a:ext cx="457200" cy="457200"/>
          </a:xfrm>
          <a:prstGeom prst="rect">
            <a:avLst/>
          </a:prstGeom>
        </p:spPr>
      </p:pic>
      <p:sp>
        <p:nvSpPr>
          <p:cNvPr id="11" name="Text 7"/>
          <p:cNvSpPr/>
          <p:nvPr/>
        </p:nvSpPr>
        <p:spPr>
          <a:xfrm>
            <a:off x="2270760" y="3274131"/>
            <a:ext cx="1600200"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UNIX</a:t>
            </a:r>
            <a:endParaRPr lang="en-US" sz="1600" dirty="0"/>
          </a:p>
        </p:txBody>
      </p:sp>
      <p:sp>
        <p:nvSpPr>
          <p:cNvPr id="12" name="Shape 8"/>
          <p:cNvSpPr/>
          <p:nvPr/>
        </p:nvSpPr>
        <p:spPr>
          <a:xfrm>
            <a:off x="4053840" y="2707203"/>
            <a:ext cx="1600200" cy="914400"/>
          </a:xfrm>
          <a:prstGeom prst="roundRect">
            <a:avLst>
              <a:gd name="adj" fmla="val 8000"/>
            </a:avLst>
          </a:prstGeom>
          <a:solidFill>
            <a:srgbClr val="F4F7FC"/>
          </a:solidFill>
          <a:ln/>
        </p:spPr>
      </p:sp>
      <p:pic>
        <p:nvPicPr>
          <p:cNvPr id="13" name="Image 2" descr="/home/claude/banking_os/icons/windows.png"/>
          <p:cNvPicPr>
            <a:picLocks noChangeAspect="1"/>
          </p:cNvPicPr>
          <p:nvPr/>
        </p:nvPicPr>
        <p:blipFill>
          <a:blip r:embed="rId5"/>
          <a:stretch>
            <a:fillRect/>
          </a:stretch>
        </p:blipFill>
        <p:spPr>
          <a:xfrm>
            <a:off x="4620768" y="2798643"/>
            <a:ext cx="457200" cy="457200"/>
          </a:xfrm>
          <a:prstGeom prst="rect">
            <a:avLst/>
          </a:prstGeom>
        </p:spPr>
      </p:pic>
      <p:sp>
        <p:nvSpPr>
          <p:cNvPr id="14" name="Text 9"/>
          <p:cNvSpPr/>
          <p:nvPr/>
        </p:nvSpPr>
        <p:spPr>
          <a:xfrm>
            <a:off x="4053840" y="3274131"/>
            <a:ext cx="1600200" cy="2926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Windows Server</a:t>
            </a:r>
            <a:endParaRPr lang="en-US" sz="1600" dirty="0"/>
          </a:p>
        </p:txBody>
      </p:sp>
      <p:sp>
        <p:nvSpPr>
          <p:cNvPr id="15" name="Text 10"/>
          <p:cNvSpPr/>
          <p:nvPr/>
        </p:nvSpPr>
        <p:spPr>
          <a:xfrm>
            <a:off x="533400" y="4108203"/>
            <a:ext cx="5120640" cy="868680"/>
          </a:xfrm>
          <a:prstGeom prst="rect">
            <a:avLst/>
          </a:prstGeom>
          <a:noFill/>
          <a:ln/>
        </p:spPr>
        <p:txBody>
          <a:bodyPr wrap="square" rtlCol="0" anchor="ctr"/>
          <a:lstStyle/>
          <a:p>
            <a:pPr marL="0" indent="0">
              <a:lnSpc>
                <a:spcPct val="120000"/>
              </a:lnSpc>
              <a:buNone/>
            </a:pPr>
            <a:r>
              <a:rPr lang="en-US" sz="1600" dirty="0">
                <a:solidFill>
                  <a:srgbClr val="5A6472"/>
                </a:solidFill>
                <a:latin typeface="Calibri" pitchFamily="34" charset="0"/>
                <a:ea typeface="Calibri" pitchFamily="34" charset="-122"/>
                <a:cs typeface="Calibri" pitchFamily="34" charset="-120"/>
              </a:rPr>
              <a:t>These typically use a Hybrid Kernel Architecture, combining the speed of a monolithic kernel with the modularity of a microkernel.</a:t>
            </a:r>
            <a:endParaRPr lang="en-US" sz="1600" dirty="0"/>
          </a:p>
        </p:txBody>
      </p:sp>
      <p:sp>
        <p:nvSpPr>
          <p:cNvPr id="16" name="Shape 11"/>
          <p:cNvSpPr/>
          <p:nvPr/>
        </p:nvSpPr>
        <p:spPr>
          <a:xfrm>
            <a:off x="6126480" y="1463040"/>
            <a:ext cx="5532120" cy="749808"/>
          </a:xfrm>
          <a:prstGeom prst="roundRect">
            <a:avLst>
              <a:gd name="adj" fmla="val 7317"/>
            </a:avLst>
          </a:prstGeom>
          <a:solidFill>
            <a:srgbClr val="F4F7FC"/>
          </a:solidFill>
          <a:ln/>
        </p:spPr>
      </p:sp>
      <p:sp>
        <p:nvSpPr>
          <p:cNvPr id="17" name="Text 12"/>
          <p:cNvSpPr/>
          <p:nvPr/>
        </p:nvSpPr>
        <p:spPr>
          <a:xfrm>
            <a:off x="6126480" y="1463040"/>
            <a:ext cx="5532120" cy="749808"/>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User Applications</a:t>
            </a:r>
            <a:endParaRPr lang="en-US" sz="1600" dirty="0"/>
          </a:p>
        </p:txBody>
      </p:sp>
      <p:pic>
        <p:nvPicPr>
          <p:cNvPr id="18" name="Image 3" descr="/home/claude/banking_os/icons/arrow_down.png"/>
          <p:cNvPicPr>
            <a:picLocks noChangeAspect="1"/>
          </p:cNvPicPr>
          <p:nvPr/>
        </p:nvPicPr>
        <p:blipFill>
          <a:blip r:embed="rId6"/>
          <a:stretch>
            <a:fillRect/>
          </a:stretch>
        </p:blipFill>
        <p:spPr>
          <a:xfrm>
            <a:off x="8773668" y="2217420"/>
            <a:ext cx="237744" cy="82296"/>
          </a:xfrm>
          <a:prstGeom prst="rect">
            <a:avLst/>
          </a:prstGeom>
        </p:spPr>
      </p:pic>
      <p:sp>
        <p:nvSpPr>
          <p:cNvPr id="19" name="Shape 13"/>
          <p:cNvSpPr/>
          <p:nvPr/>
        </p:nvSpPr>
        <p:spPr>
          <a:xfrm>
            <a:off x="6126480" y="2304288"/>
            <a:ext cx="5532120" cy="749808"/>
          </a:xfrm>
          <a:prstGeom prst="roundRect">
            <a:avLst>
              <a:gd name="adj" fmla="val 7317"/>
            </a:avLst>
          </a:prstGeom>
          <a:solidFill>
            <a:srgbClr val="00B4D8"/>
          </a:solidFill>
          <a:ln/>
        </p:spPr>
      </p:sp>
      <p:sp>
        <p:nvSpPr>
          <p:cNvPr id="20" name="Text 14"/>
          <p:cNvSpPr/>
          <p:nvPr/>
        </p:nvSpPr>
        <p:spPr>
          <a:xfrm>
            <a:off x="6126480" y="2304288"/>
            <a:ext cx="553212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System Call Interface</a:t>
            </a:r>
            <a:endParaRPr lang="en-US" sz="1600" dirty="0"/>
          </a:p>
        </p:txBody>
      </p:sp>
      <p:pic>
        <p:nvPicPr>
          <p:cNvPr id="21" name="Image 4" descr="/home/claude/banking_os/icons/arrow_down.png"/>
          <p:cNvPicPr>
            <a:picLocks noChangeAspect="1"/>
          </p:cNvPicPr>
          <p:nvPr/>
        </p:nvPicPr>
        <p:blipFill>
          <a:blip r:embed="rId6"/>
          <a:stretch>
            <a:fillRect/>
          </a:stretch>
        </p:blipFill>
        <p:spPr>
          <a:xfrm>
            <a:off x="8773668" y="3058668"/>
            <a:ext cx="237744" cy="82296"/>
          </a:xfrm>
          <a:prstGeom prst="rect">
            <a:avLst/>
          </a:prstGeom>
        </p:spPr>
      </p:pic>
      <p:sp>
        <p:nvSpPr>
          <p:cNvPr id="22" name="Shape 15"/>
          <p:cNvSpPr/>
          <p:nvPr/>
        </p:nvSpPr>
        <p:spPr>
          <a:xfrm>
            <a:off x="6126480" y="3145536"/>
            <a:ext cx="5532120" cy="749808"/>
          </a:xfrm>
          <a:prstGeom prst="roundRect">
            <a:avLst>
              <a:gd name="adj" fmla="val 7317"/>
            </a:avLst>
          </a:prstGeom>
          <a:solidFill>
            <a:srgbClr val="1E2761"/>
          </a:solidFill>
          <a:ln/>
        </p:spPr>
      </p:sp>
      <p:sp>
        <p:nvSpPr>
          <p:cNvPr id="23" name="Text 16"/>
          <p:cNvSpPr/>
          <p:nvPr/>
        </p:nvSpPr>
        <p:spPr>
          <a:xfrm>
            <a:off x="6126480" y="3145536"/>
            <a:ext cx="553212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Kernel</a:t>
            </a:r>
            <a:endParaRPr lang="en-US" sz="1600" dirty="0"/>
          </a:p>
        </p:txBody>
      </p:sp>
      <p:pic>
        <p:nvPicPr>
          <p:cNvPr id="24" name="Image 5" descr="/home/claude/banking_os/icons/arrow_down.png"/>
          <p:cNvPicPr>
            <a:picLocks noChangeAspect="1"/>
          </p:cNvPicPr>
          <p:nvPr/>
        </p:nvPicPr>
        <p:blipFill>
          <a:blip r:embed="rId6"/>
          <a:stretch>
            <a:fillRect/>
          </a:stretch>
        </p:blipFill>
        <p:spPr>
          <a:xfrm>
            <a:off x="8773668" y="3899916"/>
            <a:ext cx="237744" cy="82296"/>
          </a:xfrm>
          <a:prstGeom prst="rect">
            <a:avLst/>
          </a:prstGeom>
        </p:spPr>
      </p:pic>
      <p:sp>
        <p:nvSpPr>
          <p:cNvPr id="25" name="Shape 17"/>
          <p:cNvSpPr/>
          <p:nvPr/>
        </p:nvSpPr>
        <p:spPr>
          <a:xfrm>
            <a:off x="6126480" y="3986784"/>
            <a:ext cx="5532120" cy="749808"/>
          </a:xfrm>
          <a:prstGeom prst="roundRect">
            <a:avLst>
              <a:gd name="adj" fmla="val 7317"/>
            </a:avLst>
          </a:prstGeom>
          <a:solidFill>
            <a:srgbClr val="3A4590"/>
          </a:solidFill>
          <a:ln/>
        </p:spPr>
      </p:sp>
      <p:sp>
        <p:nvSpPr>
          <p:cNvPr id="26" name="Text 18"/>
          <p:cNvSpPr/>
          <p:nvPr/>
        </p:nvSpPr>
        <p:spPr>
          <a:xfrm>
            <a:off x="6126480" y="3986784"/>
            <a:ext cx="553212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Device Drivers</a:t>
            </a:r>
            <a:endParaRPr lang="en-US" sz="1600" dirty="0"/>
          </a:p>
        </p:txBody>
      </p:sp>
      <p:pic>
        <p:nvPicPr>
          <p:cNvPr id="27" name="Image 6" descr="/home/claude/banking_os/icons/arrow_down.png"/>
          <p:cNvPicPr>
            <a:picLocks noChangeAspect="1"/>
          </p:cNvPicPr>
          <p:nvPr/>
        </p:nvPicPr>
        <p:blipFill>
          <a:blip r:embed="rId6"/>
          <a:stretch>
            <a:fillRect/>
          </a:stretch>
        </p:blipFill>
        <p:spPr>
          <a:xfrm>
            <a:off x="8773668" y="4741164"/>
            <a:ext cx="237744" cy="82296"/>
          </a:xfrm>
          <a:prstGeom prst="rect">
            <a:avLst/>
          </a:prstGeom>
        </p:spPr>
      </p:pic>
      <p:sp>
        <p:nvSpPr>
          <p:cNvPr id="28" name="Shape 19"/>
          <p:cNvSpPr/>
          <p:nvPr/>
        </p:nvSpPr>
        <p:spPr>
          <a:xfrm>
            <a:off x="6126480" y="4828032"/>
            <a:ext cx="5532120" cy="749808"/>
          </a:xfrm>
          <a:prstGeom prst="roundRect">
            <a:avLst>
              <a:gd name="adj" fmla="val 7317"/>
            </a:avLst>
          </a:prstGeom>
          <a:solidFill>
            <a:srgbClr val="1B1B2F"/>
          </a:solidFill>
          <a:ln/>
        </p:spPr>
      </p:sp>
      <p:sp>
        <p:nvSpPr>
          <p:cNvPr id="29" name="Text 20"/>
          <p:cNvSpPr/>
          <p:nvPr/>
        </p:nvSpPr>
        <p:spPr>
          <a:xfrm>
            <a:off x="6126480" y="4828032"/>
            <a:ext cx="553212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Hardware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400" b="1" kern="0" spc="200" dirty="0">
                <a:solidFill>
                  <a:srgbClr val="00B4D8"/>
                </a:solidFill>
                <a:latin typeface="Calibri" pitchFamily="34" charset="0"/>
                <a:ea typeface="Calibri" pitchFamily="34" charset="-122"/>
                <a:cs typeface="Calibri" pitchFamily="34" charset="-120"/>
              </a:rPr>
              <a:t>KERNEL RESPONSIBILITIES I</a:t>
            </a:r>
            <a:endParaRPr lang="en-US" sz="14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Process Management</a:t>
            </a:r>
            <a:endParaRPr lang="en-US" sz="2000" dirty="0"/>
          </a:p>
        </p:txBody>
      </p:sp>
      <p:sp>
        <p:nvSpPr>
          <p:cNvPr id="4" name="Text 2"/>
          <p:cNvSpPr/>
          <p:nvPr/>
        </p:nvSpPr>
        <p:spPr>
          <a:xfrm>
            <a:off x="11503152" y="6197346"/>
            <a:ext cx="502920" cy="274320"/>
          </a:xfrm>
          <a:prstGeom prst="rect">
            <a:avLst/>
          </a:prstGeom>
          <a:noFill/>
          <a:ln/>
        </p:spPr>
        <p:txBody>
          <a:bodyPr wrap="square" rtlCol="0" anchor="ctr"/>
          <a:lstStyle/>
          <a:p>
            <a:pPr marL="0" indent="0" algn="r">
              <a:buNone/>
            </a:pPr>
            <a:r>
              <a:rPr lang="en-US" sz="1400" dirty="0">
                <a:solidFill>
                  <a:srgbClr val="5A6472"/>
                </a:solidFill>
                <a:latin typeface="Calibri" pitchFamily="34" charset="0"/>
                <a:ea typeface="Calibri" pitchFamily="34" charset="-122"/>
                <a:cs typeface="Calibri" pitchFamily="34" charset="-120"/>
              </a:rPr>
              <a:t>08</a:t>
            </a:r>
            <a:endParaRPr lang="en-US" sz="1400" dirty="0"/>
          </a:p>
        </p:txBody>
      </p:sp>
      <p:sp>
        <p:nvSpPr>
          <p:cNvPr id="5" name="Shape 3"/>
          <p:cNvSpPr/>
          <p:nvPr/>
        </p:nvSpPr>
        <p:spPr>
          <a:xfrm>
            <a:off x="566928" y="1837337"/>
            <a:ext cx="457200" cy="457200"/>
          </a:xfrm>
          <a:prstGeom prst="ellipse">
            <a:avLst/>
          </a:prstGeom>
          <a:solidFill>
            <a:srgbClr val="1E2761"/>
          </a:solidFill>
          <a:ln/>
        </p:spPr>
      </p:sp>
      <p:pic>
        <p:nvPicPr>
          <p:cNvPr id="6" name="Image 0" descr="/home/claude/banking_os/icons/tasks.png"/>
          <p:cNvPicPr>
            <a:picLocks noChangeAspect="1"/>
          </p:cNvPicPr>
          <p:nvPr/>
        </p:nvPicPr>
        <p:blipFill>
          <a:blip r:embed="rId3"/>
          <a:stretch>
            <a:fillRect/>
          </a:stretch>
        </p:blipFill>
        <p:spPr>
          <a:xfrm>
            <a:off x="669798" y="1940207"/>
            <a:ext cx="251460" cy="251460"/>
          </a:xfrm>
          <a:prstGeom prst="rect">
            <a:avLst/>
          </a:prstGeom>
        </p:spPr>
      </p:pic>
      <p:sp>
        <p:nvSpPr>
          <p:cNvPr id="7" name="Text 4"/>
          <p:cNvSpPr/>
          <p:nvPr/>
        </p:nvSpPr>
        <p:spPr>
          <a:xfrm>
            <a:off x="1188720" y="1837337"/>
            <a:ext cx="2194560" cy="45720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Process Creation</a:t>
            </a:r>
            <a:endParaRPr lang="en-US" sz="1400" dirty="0"/>
          </a:p>
        </p:txBody>
      </p:sp>
      <p:sp>
        <p:nvSpPr>
          <p:cNvPr id="8" name="Text 5"/>
          <p:cNvSpPr/>
          <p:nvPr/>
        </p:nvSpPr>
        <p:spPr>
          <a:xfrm>
            <a:off x="3447288" y="1837337"/>
            <a:ext cx="2148840" cy="548640"/>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A new process is spawned for each banking request</a:t>
            </a:r>
            <a:endParaRPr lang="en-US" sz="1400" dirty="0"/>
          </a:p>
        </p:txBody>
      </p:sp>
      <p:sp>
        <p:nvSpPr>
          <p:cNvPr id="9" name="Shape 6"/>
          <p:cNvSpPr/>
          <p:nvPr/>
        </p:nvSpPr>
        <p:spPr>
          <a:xfrm>
            <a:off x="566928" y="2514927"/>
            <a:ext cx="457200" cy="457200"/>
          </a:xfrm>
          <a:prstGeom prst="ellipse">
            <a:avLst/>
          </a:prstGeom>
          <a:solidFill>
            <a:srgbClr val="1E2761"/>
          </a:solidFill>
          <a:ln/>
        </p:spPr>
      </p:sp>
      <p:pic>
        <p:nvPicPr>
          <p:cNvPr id="10" name="Image 1" descr="/home/claude/banking_os/icons/clock_navy.png"/>
          <p:cNvPicPr>
            <a:picLocks noChangeAspect="1"/>
          </p:cNvPicPr>
          <p:nvPr/>
        </p:nvPicPr>
        <p:blipFill>
          <a:blip r:embed="rId4"/>
          <a:stretch>
            <a:fillRect/>
          </a:stretch>
        </p:blipFill>
        <p:spPr>
          <a:xfrm>
            <a:off x="669798" y="2617797"/>
            <a:ext cx="251460" cy="251460"/>
          </a:xfrm>
          <a:prstGeom prst="rect">
            <a:avLst/>
          </a:prstGeom>
        </p:spPr>
      </p:pic>
      <p:sp>
        <p:nvSpPr>
          <p:cNvPr id="11" name="Text 7"/>
          <p:cNvSpPr/>
          <p:nvPr/>
        </p:nvSpPr>
        <p:spPr>
          <a:xfrm>
            <a:off x="1188720" y="2514927"/>
            <a:ext cx="2194560" cy="45720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CPU Scheduling</a:t>
            </a:r>
            <a:endParaRPr lang="en-US" sz="1400" dirty="0"/>
          </a:p>
        </p:txBody>
      </p:sp>
      <p:sp>
        <p:nvSpPr>
          <p:cNvPr id="12" name="Text 8"/>
          <p:cNvSpPr/>
          <p:nvPr/>
        </p:nvSpPr>
        <p:spPr>
          <a:xfrm>
            <a:off x="3447288" y="2514927"/>
            <a:ext cx="2148840" cy="548640"/>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Fairly allocates processor time across active processes</a:t>
            </a:r>
            <a:endParaRPr lang="en-US" sz="1400" dirty="0"/>
          </a:p>
        </p:txBody>
      </p:sp>
      <p:sp>
        <p:nvSpPr>
          <p:cNvPr id="13" name="Shape 9"/>
          <p:cNvSpPr/>
          <p:nvPr/>
        </p:nvSpPr>
        <p:spPr>
          <a:xfrm>
            <a:off x="594360" y="3264082"/>
            <a:ext cx="457200" cy="457200"/>
          </a:xfrm>
          <a:prstGeom prst="ellipse">
            <a:avLst/>
          </a:prstGeom>
          <a:solidFill>
            <a:srgbClr val="1E2761"/>
          </a:solidFill>
          <a:ln/>
        </p:spPr>
      </p:sp>
      <p:pic>
        <p:nvPicPr>
          <p:cNvPr id="14" name="Image 2" descr="/home/claude/banking_os/icons/sync.png"/>
          <p:cNvPicPr>
            <a:picLocks noChangeAspect="1"/>
          </p:cNvPicPr>
          <p:nvPr/>
        </p:nvPicPr>
        <p:blipFill>
          <a:blip r:embed="rId5"/>
          <a:stretch>
            <a:fillRect/>
          </a:stretch>
        </p:blipFill>
        <p:spPr>
          <a:xfrm>
            <a:off x="697230" y="3366952"/>
            <a:ext cx="251460" cy="251460"/>
          </a:xfrm>
          <a:prstGeom prst="rect">
            <a:avLst/>
          </a:prstGeom>
        </p:spPr>
      </p:pic>
      <p:sp>
        <p:nvSpPr>
          <p:cNvPr id="15" name="Text 10"/>
          <p:cNvSpPr/>
          <p:nvPr/>
        </p:nvSpPr>
        <p:spPr>
          <a:xfrm>
            <a:off x="1216152" y="3264082"/>
            <a:ext cx="2194560" cy="45720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Context Switching</a:t>
            </a:r>
            <a:endParaRPr lang="en-US" sz="1400" dirty="0"/>
          </a:p>
        </p:txBody>
      </p:sp>
      <p:sp>
        <p:nvSpPr>
          <p:cNvPr id="16" name="Text 11"/>
          <p:cNvSpPr/>
          <p:nvPr/>
        </p:nvSpPr>
        <p:spPr>
          <a:xfrm>
            <a:off x="3474720" y="3264082"/>
            <a:ext cx="2148840" cy="548640"/>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Rapidly swaps between processes to simulate parallelism</a:t>
            </a:r>
            <a:endParaRPr lang="en-US" sz="1400" dirty="0"/>
          </a:p>
        </p:txBody>
      </p:sp>
      <p:sp>
        <p:nvSpPr>
          <p:cNvPr id="17" name="Shape 12"/>
          <p:cNvSpPr/>
          <p:nvPr/>
        </p:nvSpPr>
        <p:spPr>
          <a:xfrm>
            <a:off x="594360" y="4044541"/>
            <a:ext cx="457200" cy="457200"/>
          </a:xfrm>
          <a:prstGeom prst="ellipse">
            <a:avLst/>
          </a:prstGeom>
          <a:solidFill>
            <a:srgbClr val="1E2761"/>
          </a:solidFill>
          <a:ln/>
        </p:spPr>
      </p:sp>
      <p:pic>
        <p:nvPicPr>
          <p:cNvPr id="18" name="Image 3" descr="/home/claude/banking_os/icons/handshake.png"/>
          <p:cNvPicPr>
            <a:picLocks noChangeAspect="1"/>
          </p:cNvPicPr>
          <p:nvPr/>
        </p:nvPicPr>
        <p:blipFill>
          <a:blip r:embed="rId6"/>
          <a:stretch>
            <a:fillRect/>
          </a:stretch>
        </p:blipFill>
        <p:spPr>
          <a:xfrm>
            <a:off x="697230" y="4147411"/>
            <a:ext cx="251460" cy="251460"/>
          </a:xfrm>
          <a:prstGeom prst="rect">
            <a:avLst/>
          </a:prstGeom>
        </p:spPr>
      </p:pic>
      <p:sp>
        <p:nvSpPr>
          <p:cNvPr id="19" name="Text 13"/>
          <p:cNvSpPr/>
          <p:nvPr/>
        </p:nvSpPr>
        <p:spPr>
          <a:xfrm>
            <a:off x="1216152" y="4044541"/>
            <a:ext cx="2194560" cy="45720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Synchronization</a:t>
            </a:r>
            <a:endParaRPr lang="en-US" sz="1400" dirty="0"/>
          </a:p>
        </p:txBody>
      </p:sp>
      <p:sp>
        <p:nvSpPr>
          <p:cNvPr id="20" name="Text 14"/>
          <p:cNvSpPr/>
          <p:nvPr/>
        </p:nvSpPr>
        <p:spPr>
          <a:xfrm>
            <a:off x="3474720" y="4044541"/>
            <a:ext cx="2148840" cy="548640"/>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Coordinates shared resources to prevent conflicts</a:t>
            </a:r>
            <a:endParaRPr lang="en-US" sz="1400" dirty="0"/>
          </a:p>
        </p:txBody>
      </p:sp>
      <p:sp>
        <p:nvSpPr>
          <p:cNvPr id="21" name="Shape 15"/>
          <p:cNvSpPr/>
          <p:nvPr/>
        </p:nvSpPr>
        <p:spPr>
          <a:xfrm>
            <a:off x="594360" y="4746343"/>
            <a:ext cx="457200" cy="457200"/>
          </a:xfrm>
          <a:prstGeom prst="ellipse">
            <a:avLst/>
          </a:prstGeom>
          <a:solidFill>
            <a:srgbClr val="1E2761"/>
          </a:solidFill>
          <a:ln/>
        </p:spPr>
      </p:sp>
      <p:pic>
        <p:nvPicPr>
          <p:cNvPr id="22" name="Image 4" descr="/home/claude/banking_os/icons/userlock.png"/>
          <p:cNvPicPr>
            <a:picLocks noChangeAspect="1"/>
          </p:cNvPicPr>
          <p:nvPr/>
        </p:nvPicPr>
        <p:blipFill>
          <a:blip r:embed="rId7"/>
          <a:stretch>
            <a:fillRect/>
          </a:stretch>
        </p:blipFill>
        <p:spPr>
          <a:xfrm>
            <a:off x="697230" y="4849213"/>
            <a:ext cx="251460" cy="251460"/>
          </a:xfrm>
          <a:prstGeom prst="rect">
            <a:avLst/>
          </a:prstGeom>
        </p:spPr>
      </p:pic>
      <p:sp>
        <p:nvSpPr>
          <p:cNvPr id="23" name="Text 16"/>
          <p:cNvSpPr/>
          <p:nvPr/>
        </p:nvSpPr>
        <p:spPr>
          <a:xfrm>
            <a:off x="1216152" y="4746343"/>
            <a:ext cx="2194560" cy="45720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Deadlock Prevention</a:t>
            </a:r>
            <a:endParaRPr lang="en-US" sz="1400" dirty="0"/>
          </a:p>
        </p:txBody>
      </p:sp>
      <p:sp>
        <p:nvSpPr>
          <p:cNvPr id="24" name="Text 17"/>
          <p:cNvSpPr/>
          <p:nvPr/>
        </p:nvSpPr>
        <p:spPr>
          <a:xfrm>
            <a:off x="3474720" y="4746343"/>
            <a:ext cx="2148840" cy="548640"/>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Avoids processes waiting on each other indefinitely</a:t>
            </a:r>
            <a:endParaRPr lang="en-US" sz="1400" dirty="0"/>
          </a:p>
        </p:txBody>
      </p:sp>
      <p:sp>
        <p:nvSpPr>
          <p:cNvPr id="25" name="Shape 18"/>
          <p:cNvSpPr/>
          <p:nvPr/>
        </p:nvSpPr>
        <p:spPr>
          <a:xfrm>
            <a:off x="6080760" y="1213866"/>
            <a:ext cx="5577840" cy="4937760"/>
          </a:xfrm>
          <a:prstGeom prst="roundRect">
            <a:avLst>
              <a:gd name="adj" fmla="val 1852"/>
            </a:avLst>
          </a:prstGeom>
          <a:solidFill>
            <a:srgbClr val="F4F7FC"/>
          </a:solidFill>
          <a:ln/>
        </p:spPr>
      </p:sp>
      <p:sp>
        <p:nvSpPr>
          <p:cNvPr id="26" name="Text 19"/>
          <p:cNvSpPr/>
          <p:nvPr/>
        </p:nvSpPr>
        <p:spPr>
          <a:xfrm>
            <a:off x="6355080" y="1424178"/>
            <a:ext cx="5029200" cy="292608"/>
          </a:xfrm>
          <a:prstGeom prst="rect">
            <a:avLst/>
          </a:prstGeom>
          <a:noFill/>
          <a:ln/>
        </p:spPr>
        <p:txBody>
          <a:bodyPr wrap="square" rtlCol="0" anchor="ctr"/>
          <a:lstStyle/>
          <a:p>
            <a:pPr marL="0" indent="0">
              <a:buNone/>
            </a:pPr>
            <a:r>
              <a:rPr lang="en-US" sz="1400" b="1" kern="0" spc="100" dirty="0">
                <a:solidFill>
                  <a:srgbClr val="1E2761"/>
                </a:solidFill>
                <a:latin typeface="Calibri" pitchFamily="34" charset="0"/>
                <a:ea typeface="Calibri" pitchFamily="34" charset="-122"/>
                <a:cs typeface="Calibri" pitchFamily="34" charset="-120"/>
              </a:rPr>
              <a:t>CONCURRENT EXECUTION EXAMPLE</a:t>
            </a:r>
            <a:endParaRPr lang="en-US" sz="1400" dirty="0"/>
          </a:p>
        </p:txBody>
      </p:sp>
      <p:sp>
        <p:nvSpPr>
          <p:cNvPr id="27" name="Shape 20"/>
          <p:cNvSpPr/>
          <p:nvPr/>
        </p:nvSpPr>
        <p:spPr>
          <a:xfrm>
            <a:off x="6355080" y="1945386"/>
            <a:ext cx="5029200" cy="1005840"/>
          </a:xfrm>
          <a:prstGeom prst="roundRect">
            <a:avLst>
              <a:gd name="adj" fmla="val 7273"/>
            </a:avLst>
          </a:prstGeom>
          <a:solidFill>
            <a:srgbClr val="FFFFFF"/>
          </a:solidFill>
          <a:ln w="12700">
            <a:solidFill>
              <a:srgbClr val="D9DEEA"/>
            </a:solidFill>
            <a:prstDash val="solid"/>
          </a:ln>
        </p:spPr>
      </p:sp>
      <p:sp>
        <p:nvSpPr>
          <p:cNvPr id="28" name="Shape 21"/>
          <p:cNvSpPr/>
          <p:nvPr/>
        </p:nvSpPr>
        <p:spPr>
          <a:xfrm>
            <a:off x="6537960" y="2173986"/>
            <a:ext cx="548640" cy="548640"/>
          </a:xfrm>
          <a:prstGeom prst="ellipse">
            <a:avLst/>
          </a:prstGeom>
          <a:solidFill>
            <a:srgbClr val="1E2761"/>
          </a:solidFill>
          <a:ln/>
        </p:spPr>
      </p:sp>
      <p:pic>
        <p:nvPicPr>
          <p:cNvPr id="29" name="Image 5" descr="/home/claude/banking_os/icons/users_navy.png"/>
          <p:cNvPicPr>
            <a:picLocks noChangeAspect="1"/>
          </p:cNvPicPr>
          <p:nvPr/>
        </p:nvPicPr>
        <p:blipFill>
          <a:blip r:embed="rId8"/>
          <a:stretch>
            <a:fillRect/>
          </a:stretch>
        </p:blipFill>
        <p:spPr>
          <a:xfrm>
            <a:off x="6661404" y="2297430"/>
            <a:ext cx="301752" cy="301752"/>
          </a:xfrm>
          <a:prstGeom prst="rect">
            <a:avLst/>
          </a:prstGeom>
        </p:spPr>
      </p:pic>
      <p:sp>
        <p:nvSpPr>
          <p:cNvPr id="30" name="Text 22"/>
          <p:cNvSpPr/>
          <p:nvPr/>
        </p:nvSpPr>
        <p:spPr>
          <a:xfrm>
            <a:off x="7269480" y="2073402"/>
            <a:ext cx="27432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Customer A</a:t>
            </a:r>
            <a:endParaRPr lang="en-US" sz="1400" dirty="0"/>
          </a:p>
        </p:txBody>
      </p:sp>
      <p:sp>
        <p:nvSpPr>
          <p:cNvPr id="31" name="Text 23"/>
          <p:cNvSpPr/>
          <p:nvPr/>
        </p:nvSpPr>
        <p:spPr>
          <a:xfrm>
            <a:off x="7269480" y="2402586"/>
            <a:ext cx="2743200" cy="320040"/>
          </a:xfrm>
          <a:prstGeom prst="rect">
            <a:avLst/>
          </a:prstGeom>
          <a:noFill/>
          <a:ln/>
        </p:spPr>
        <p:txBody>
          <a:bodyPr wrap="square" rtlCol="0" anchor="ctr"/>
          <a:lstStyle/>
          <a:p>
            <a:pPr marL="0" indent="0">
              <a:buNone/>
            </a:pPr>
            <a:r>
              <a:rPr lang="en-US" sz="1400" dirty="0">
                <a:solidFill>
                  <a:srgbClr val="5A6472"/>
                </a:solidFill>
                <a:latin typeface="Calibri" pitchFamily="34" charset="0"/>
                <a:ea typeface="Calibri" pitchFamily="34" charset="-122"/>
                <a:cs typeface="Calibri" pitchFamily="34" charset="-120"/>
              </a:rPr>
              <a:t>Transfers money</a:t>
            </a:r>
            <a:endParaRPr lang="en-US" sz="1400" dirty="0"/>
          </a:p>
        </p:txBody>
      </p:sp>
      <p:sp>
        <p:nvSpPr>
          <p:cNvPr id="32" name="Shape 24"/>
          <p:cNvSpPr/>
          <p:nvPr/>
        </p:nvSpPr>
        <p:spPr>
          <a:xfrm>
            <a:off x="10561320" y="2265426"/>
            <a:ext cx="685800" cy="347472"/>
          </a:xfrm>
          <a:prstGeom prst="roundRect">
            <a:avLst>
              <a:gd name="adj" fmla="val 50000"/>
            </a:avLst>
          </a:prstGeom>
          <a:solidFill>
            <a:srgbClr val="E4F7FA"/>
          </a:solidFill>
          <a:ln w="12700">
            <a:solidFill>
              <a:srgbClr val="00B4D8"/>
            </a:solidFill>
            <a:prstDash val="solid"/>
          </a:ln>
        </p:spPr>
      </p:sp>
      <p:sp>
        <p:nvSpPr>
          <p:cNvPr id="33" name="Text 25"/>
          <p:cNvSpPr/>
          <p:nvPr/>
        </p:nvSpPr>
        <p:spPr>
          <a:xfrm>
            <a:off x="10561320" y="2265426"/>
            <a:ext cx="685800" cy="347472"/>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CPU 1</a:t>
            </a:r>
            <a:endParaRPr lang="en-US" sz="1400" dirty="0"/>
          </a:p>
        </p:txBody>
      </p:sp>
      <p:sp>
        <p:nvSpPr>
          <p:cNvPr id="34" name="Shape 26"/>
          <p:cNvSpPr/>
          <p:nvPr/>
        </p:nvSpPr>
        <p:spPr>
          <a:xfrm>
            <a:off x="6355080" y="3179826"/>
            <a:ext cx="5029200" cy="1005840"/>
          </a:xfrm>
          <a:prstGeom prst="roundRect">
            <a:avLst>
              <a:gd name="adj" fmla="val 7273"/>
            </a:avLst>
          </a:prstGeom>
          <a:solidFill>
            <a:srgbClr val="FFFFFF"/>
          </a:solidFill>
          <a:ln w="12700">
            <a:solidFill>
              <a:srgbClr val="D9DEEA"/>
            </a:solidFill>
            <a:prstDash val="solid"/>
          </a:ln>
        </p:spPr>
      </p:sp>
      <p:sp>
        <p:nvSpPr>
          <p:cNvPr id="35" name="Shape 27"/>
          <p:cNvSpPr/>
          <p:nvPr/>
        </p:nvSpPr>
        <p:spPr>
          <a:xfrm>
            <a:off x="6537960" y="3408426"/>
            <a:ext cx="548640" cy="548640"/>
          </a:xfrm>
          <a:prstGeom prst="ellipse">
            <a:avLst/>
          </a:prstGeom>
          <a:solidFill>
            <a:srgbClr val="1E2761"/>
          </a:solidFill>
          <a:ln/>
        </p:spPr>
      </p:sp>
      <p:pic>
        <p:nvPicPr>
          <p:cNvPr id="36" name="Image 6" descr="/home/claude/banking_os/icons/piggy.png"/>
          <p:cNvPicPr>
            <a:picLocks noChangeAspect="1"/>
          </p:cNvPicPr>
          <p:nvPr/>
        </p:nvPicPr>
        <p:blipFill>
          <a:blip r:embed="rId9"/>
          <a:stretch>
            <a:fillRect/>
          </a:stretch>
        </p:blipFill>
        <p:spPr>
          <a:xfrm>
            <a:off x="6661404" y="3531870"/>
            <a:ext cx="301752" cy="301752"/>
          </a:xfrm>
          <a:prstGeom prst="rect">
            <a:avLst/>
          </a:prstGeom>
        </p:spPr>
      </p:pic>
      <p:sp>
        <p:nvSpPr>
          <p:cNvPr id="37" name="Text 28"/>
          <p:cNvSpPr/>
          <p:nvPr/>
        </p:nvSpPr>
        <p:spPr>
          <a:xfrm>
            <a:off x="7269480" y="3307842"/>
            <a:ext cx="27432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Customer B</a:t>
            </a:r>
            <a:endParaRPr lang="en-US" sz="1400" dirty="0"/>
          </a:p>
        </p:txBody>
      </p:sp>
      <p:sp>
        <p:nvSpPr>
          <p:cNvPr id="38" name="Text 29"/>
          <p:cNvSpPr/>
          <p:nvPr/>
        </p:nvSpPr>
        <p:spPr>
          <a:xfrm>
            <a:off x="7269480" y="3637026"/>
            <a:ext cx="2743200" cy="320040"/>
          </a:xfrm>
          <a:prstGeom prst="rect">
            <a:avLst/>
          </a:prstGeom>
          <a:noFill/>
          <a:ln/>
        </p:spPr>
        <p:txBody>
          <a:bodyPr wrap="square" rtlCol="0" anchor="ctr"/>
          <a:lstStyle/>
          <a:p>
            <a:pPr marL="0" indent="0">
              <a:buNone/>
            </a:pPr>
            <a:r>
              <a:rPr lang="en-US" sz="1400" dirty="0">
                <a:solidFill>
                  <a:srgbClr val="5A6472"/>
                </a:solidFill>
                <a:latin typeface="Calibri" pitchFamily="34" charset="0"/>
                <a:ea typeface="Calibri" pitchFamily="34" charset="-122"/>
                <a:cs typeface="Calibri" pitchFamily="34" charset="-120"/>
              </a:rPr>
              <a:t>Checks balance</a:t>
            </a:r>
            <a:endParaRPr lang="en-US" sz="1400" dirty="0"/>
          </a:p>
        </p:txBody>
      </p:sp>
      <p:sp>
        <p:nvSpPr>
          <p:cNvPr id="39" name="Shape 30"/>
          <p:cNvSpPr/>
          <p:nvPr/>
        </p:nvSpPr>
        <p:spPr>
          <a:xfrm>
            <a:off x="10561320" y="3499866"/>
            <a:ext cx="685800" cy="347472"/>
          </a:xfrm>
          <a:prstGeom prst="roundRect">
            <a:avLst>
              <a:gd name="adj" fmla="val 50000"/>
            </a:avLst>
          </a:prstGeom>
          <a:solidFill>
            <a:srgbClr val="E4F7FA"/>
          </a:solidFill>
          <a:ln w="12700">
            <a:solidFill>
              <a:srgbClr val="00B4D8"/>
            </a:solidFill>
            <a:prstDash val="solid"/>
          </a:ln>
        </p:spPr>
      </p:sp>
      <p:sp>
        <p:nvSpPr>
          <p:cNvPr id="40" name="Text 31"/>
          <p:cNvSpPr/>
          <p:nvPr/>
        </p:nvSpPr>
        <p:spPr>
          <a:xfrm>
            <a:off x="10561320" y="3499866"/>
            <a:ext cx="685800" cy="347472"/>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CPU 2</a:t>
            </a:r>
            <a:endParaRPr lang="en-US" sz="1400" dirty="0"/>
          </a:p>
        </p:txBody>
      </p:sp>
      <p:sp>
        <p:nvSpPr>
          <p:cNvPr id="41" name="Shape 32"/>
          <p:cNvSpPr/>
          <p:nvPr/>
        </p:nvSpPr>
        <p:spPr>
          <a:xfrm>
            <a:off x="6355080" y="4414266"/>
            <a:ext cx="5029200" cy="1005840"/>
          </a:xfrm>
          <a:prstGeom prst="roundRect">
            <a:avLst>
              <a:gd name="adj" fmla="val 7273"/>
            </a:avLst>
          </a:prstGeom>
          <a:solidFill>
            <a:srgbClr val="FFFFFF"/>
          </a:solidFill>
          <a:ln w="12700">
            <a:solidFill>
              <a:srgbClr val="D9DEEA"/>
            </a:solidFill>
            <a:prstDash val="solid"/>
          </a:ln>
        </p:spPr>
      </p:sp>
      <p:sp>
        <p:nvSpPr>
          <p:cNvPr id="42" name="Shape 33"/>
          <p:cNvSpPr/>
          <p:nvPr/>
        </p:nvSpPr>
        <p:spPr>
          <a:xfrm>
            <a:off x="6537960" y="4642866"/>
            <a:ext cx="548640" cy="548640"/>
          </a:xfrm>
          <a:prstGeom prst="ellipse">
            <a:avLst/>
          </a:prstGeom>
          <a:solidFill>
            <a:srgbClr val="1E2761"/>
          </a:solidFill>
          <a:ln/>
        </p:spPr>
      </p:sp>
      <p:pic>
        <p:nvPicPr>
          <p:cNvPr id="43" name="Image 7" descr="/home/claude/banking_os/icons/exchange.png"/>
          <p:cNvPicPr>
            <a:picLocks noChangeAspect="1"/>
          </p:cNvPicPr>
          <p:nvPr/>
        </p:nvPicPr>
        <p:blipFill>
          <a:blip r:embed="rId10"/>
          <a:stretch>
            <a:fillRect/>
          </a:stretch>
        </p:blipFill>
        <p:spPr>
          <a:xfrm>
            <a:off x="6661404" y="4766310"/>
            <a:ext cx="301752" cy="301752"/>
          </a:xfrm>
          <a:prstGeom prst="rect">
            <a:avLst/>
          </a:prstGeom>
        </p:spPr>
      </p:pic>
      <p:sp>
        <p:nvSpPr>
          <p:cNvPr id="44" name="Text 34"/>
          <p:cNvSpPr/>
          <p:nvPr/>
        </p:nvSpPr>
        <p:spPr>
          <a:xfrm>
            <a:off x="7269480" y="4542282"/>
            <a:ext cx="27432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Customer C</a:t>
            </a:r>
            <a:endParaRPr lang="en-US" sz="1400" dirty="0"/>
          </a:p>
        </p:txBody>
      </p:sp>
      <p:sp>
        <p:nvSpPr>
          <p:cNvPr id="45" name="Text 35"/>
          <p:cNvSpPr/>
          <p:nvPr/>
        </p:nvSpPr>
        <p:spPr>
          <a:xfrm>
            <a:off x="7269480" y="4871466"/>
            <a:ext cx="2743200" cy="320040"/>
          </a:xfrm>
          <a:prstGeom prst="rect">
            <a:avLst/>
          </a:prstGeom>
          <a:noFill/>
          <a:ln/>
        </p:spPr>
        <p:txBody>
          <a:bodyPr wrap="square" rtlCol="0" anchor="ctr"/>
          <a:lstStyle/>
          <a:p>
            <a:pPr marL="0" indent="0">
              <a:buNone/>
            </a:pPr>
            <a:r>
              <a:rPr lang="en-US" sz="1400" dirty="0">
                <a:solidFill>
                  <a:srgbClr val="5A6472"/>
                </a:solidFill>
                <a:latin typeface="Calibri" pitchFamily="34" charset="0"/>
                <a:ea typeface="Calibri" pitchFamily="34" charset="-122"/>
                <a:cs typeface="Calibri" pitchFamily="34" charset="-120"/>
              </a:rPr>
              <a:t>Deposits money</a:t>
            </a:r>
            <a:endParaRPr lang="en-US" sz="1400" dirty="0"/>
          </a:p>
        </p:txBody>
      </p:sp>
      <p:sp>
        <p:nvSpPr>
          <p:cNvPr id="46" name="Shape 36"/>
          <p:cNvSpPr/>
          <p:nvPr/>
        </p:nvSpPr>
        <p:spPr>
          <a:xfrm>
            <a:off x="10561320" y="4734306"/>
            <a:ext cx="685800" cy="347472"/>
          </a:xfrm>
          <a:prstGeom prst="roundRect">
            <a:avLst>
              <a:gd name="adj" fmla="val 50000"/>
            </a:avLst>
          </a:prstGeom>
          <a:solidFill>
            <a:srgbClr val="E4F7FA"/>
          </a:solidFill>
          <a:ln w="12700">
            <a:solidFill>
              <a:srgbClr val="00B4D8"/>
            </a:solidFill>
            <a:prstDash val="solid"/>
          </a:ln>
        </p:spPr>
      </p:sp>
      <p:sp>
        <p:nvSpPr>
          <p:cNvPr id="47" name="Text 37"/>
          <p:cNvSpPr/>
          <p:nvPr/>
        </p:nvSpPr>
        <p:spPr>
          <a:xfrm>
            <a:off x="10561320" y="4734306"/>
            <a:ext cx="685800" cy="347472"/>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CPU 3</a:t>
            </a:r>
            <a:endParaRPr lang="en-US" sz="1400" dirty="0"/>
          </a:p>
        </p:txBody>
      </p:sp>
      <p:sp>
        <p:nvSpPr>
          <p:cNvPr id="48" name="Text 38"/>
          <p:cNvSpPr/>
          <p:nvPr/>
        </p:nvSpPr>
        <p:spPr>
          <a:xfrm>
            <a:off x="6355080" y="5602986"/>
            <a:ext cx="5029200" cy="457200"/>
          </a:xfrm>
          <a:prstGeom prst="rect">
            <a:avLst/>
          </a:prstGeom>
          <a:noFill/>
          <a:ln/>
        </p:spPr>
        <p:txBody>
          <a:bodyPr wrap="square" rtlCol="0" anchor="ctr"/>
          <a:lstStyle/>
          <a:p>
            <a:pPr marL="0" indent="0">
              <a:lnSpc>
                <a:spcPct val="110000"/>
              </a:lnSpc>
              <a:buNone/>
            </a:pPr>
            <a:r>
              <a:rPr lang="en-US" sz="1400" i="1" dirty="0">
                <a:solidFill>
                  <a:srgbClr val="5A6472"/>
                </a:solidFill>
                <a:latin typeface="Calibri" pitchFamily="34" charset="0"/>
                <a:ea typeface="Calibri" pitchFamily="34" charset="-122"/>
                <a:cs typeface="Calibri" pitchFamily="34" charset="-120"/>
              </a:rPr>
              <a:t>All three processes run simultaneously — the operating system schedules and isolates each so they never interfere with one another.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600" b="1" kern="0" spc="200" dirty="0">
                <a:solidFill>
                  <a:srgbClr val="00B4D8"/>
                </a:solidFill>
                <a:latin typeface="Calibri" pitchFamily="34" charset="0"/>
                <a:ea typeface="Calibri" pitchFamily="34" charset="-122"/>
                <a:cs typeface="Calibri" pitchFamily="34" charset="-120"/>
              </a:rPr>
              <a:t>INTERFACE LAYER</a:t>
            </a:r>
            <a:endParaRPr lang="en-US" sz="16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Role of System Calls</a:t>
            </a:r>
            <a:endParaRPr lang="en-US" sz="2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600" dirty="0">
                <a:solidFill>
                  <a:srgbClr val="5A6472"/>
                </a:solidFill>
                <a:latin typeface="Calibri" pitchFamily="34" charset="0"/>
                <a:ea typeface="Calibri" pitchFamily="34" charset="-122"/>
                <a:cs typeface="Calibri" pitchFamily="34" charset="-120"/>
              </a:rPr>
              <a:t>10</a:t>
            </a:r>
            <a:endParaRPr lang="en-US" sz="1600" dirty="0"/>
          </a:p>
        </p:txBody>
      </p:sp>
      <p:sp>
        <p:nvSpPr>
          <p:cNvPr id="5" name="Text 3"/>
          <p:cNvSpPr/>
          <p:nvPr/>
        </p:nvSpPr>
        <p:spPr>
          <a:xfrm>
            <a:off x="548640" y="1371600"/>
            <a:ext cx="11064240" cy="548640"/>
          </a:xfrm>
          <a:prstGeom prst="rect">
            <a:avLst/>
          </a:prstGeom>
          <a:noFill/>
          <a:ln/>
        </p:spPr>
        <p:txBody>
          <a:bodyPr wrap="square" rtlCol="0" anchor="ctr"/>
          <a:lstStyle/>
          <a:p>
            <a:pPr marL="0" indent="0">
              <a:lnSpc>
                <a:spcPct val="120000"/>
              </a:lnSpc>
              <a:buNone/>
            </a:pPr>
            <a:r>
              <a:rPr lang="en-US" sz="1600" dirty="0">
                <a:solidFill>
                  <a:srgbClr val="1B1B2F"/>
                </a:solidFill>
                <a:latin typeface="Calibri" pitchFamily="34" charset="0"/>
                <a:ea typeface="Calibri" pitchFamily="34" charset="-122"/>
                <a:cs typeface="Calibri" pitchFamily="34" charset="-120"/>
              </a:rPr>
              <a:t>System calls are the controlled gateway through which banking applications request services from the operating system kernel — they cannot access hardware or protected resources directly.</a:t>
            </a:r>
            <a:endParaRPr lang="en-US" sz="1600" dirty="0"/>
          </a:p>
        </p:txBody>
      </p:sp>
      <p:sp>
        <p:nvSpPr>
          <p:cNvPr id="27" name="Text 15"/>
          <p:cNvSpPr/>
          <p:nvPr/>
        </p:nvSpPr>
        <p:spPr>
          <a:xfrm>
            <a:off x="576072" y="2554535"/>
            <a:ext cx="7315200" cy="292608"/>
          </a:xfrm>
          <a:prstGeom prst="rect">
            <a:avLst/>
          </a:prstGeom>
          <a:noFill/>
          <a:ln/>
        </p:spPr>
        <p:txBody>
          <a:bodyPr wrap="square"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COMMON BANKING SYSTEM CALLS</a:t>
            </a:r>
            <a:endParaRPr lang="en-US" sz="1600" dirty="0"/>
          </a:p>
        </p:txBody>
      </p:sp>
      <p:sp>
        <p:nvSpPr>
          <p:cNvPr id="28" name="Shape 16"/>
          <p:cNvSpPr/>
          <p:nvPr/>
        </p:nvSpPr>
        <p:spPr>
          <a:xfrm>
            <a:off x="576072" y="2920295"/>
            <a:ext cx="3611880" cy="777240"/>
          </a:xfrm>
          <a:prstGeom prst="roundRect">
            <a:avLst>
              <a:gd name="adj" fmla="val 7059"/>
            </a:avLst>
          </a:prstGeom>
          <a:solidFill>
            <a:srgbClr val="F4F7FC"/>
          </a:solidFill>
          <a:ln/>
        </p:spPr>
      </p:sp>
      <p:sp>
        <p:nvSpPr>
          <p:cNvPr id="29" name="Text 17"/>
          <p:cNvSpPr/>
          <p:nvPr/>
        </p:nvSpPr>
        <p:spPr>
          <a:xfrm>
            <a:off x="713232" y="2993447"/>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open()</a:t>
            </a:r>
            <a:endParaRPr lang="en-US" sz="1600" dirty="0"/>
          </a:p>
        </p:txBody>
      </p:sp>
      <p:sp>
        <p:nvSpPr>
          <p:cNvPr id="30" name="Text 18"/>
          <p:cNvSpPr/>
          <p:nvPr/>
        </p:nvSpPr>
        <p:spPr>
          <a:xfrm>
            <a:off x="713232" y="3286055"/>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Open a database or file connection</a:t>
            </a:r>
            <a:endParaRPr lang="en-US" sz="1600" dirty="0"/>
          </a:p>
        </p:txBody>
      </p:sp>
      <p:sp>
        <p:nvSpPr>
          <p:cNvPr id="31" name="Shape 19"/>
          <p:cNvSpPr/>
          <p:nvPr/>
        </p:nvSpPr>
        <p:spPr>
          <a:xfrm>
            <a:off x="4306824" y="2920295"/>
            <a:ext cx="3611880" cy="777240"/>
          </a:xfrm>
          <a:prstGeom prst="roundRect">
            <a:avLst>
              <a:gd name="adj" fmla="val 7059"/>
            </a:avLst>
          </a:prstGeom>
          <a:solidFill>
            <a:srgbClr val="F4F7FC"/>
          </a:solidFill>
          <a:ln/>
        </p:spPr>
      </p:sp>
      <p:sp>
        <p:nvSpPr>
          <p:cNvPr id="32" name="Text 20"/>
          <p:cNvSpPr/>
          <p:nvPr/>
        </p:nvSpPr>
        <p:spPr>
          <a:xfrm>
            <a:off x="4443984" y="2993447"/>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read()</a:t>
            </a:r>
            <a:endParaRPr lang="en-US" sz="1600" dirty="0"/>
          </a:p>
        </p:txBody>
      </p:sp>
      <p:sp>
        <p:nvSpPr>
          <p:cNvPr id="33" name="Text 21"/>
          <p:cNvSpPr/>
          <p:nvPr/>
        </p:nvSpPr>
        <p:spPr>
          <a:xfrm>
            <a:off x="4443984" y="3286055"/>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Read account or transaction data</a:t>
            </a:r>
            <a:endParaRPr lang="en-US" sz="1600" dirty="0"/>
          </a:p>
        </p:txBody>
      </p:sp>
      <p:sp>
        <p:nvSpPr>
          <p:cNvPr id="34" name="Shape 22"/>
          <p:cNvSpPr/>
          <p:nvPr/>
        </p:nvSpPr>
        <p:spPr>
          <a:xfrm>
            <a:off x="8037576" y="2920295"/>
            <a:ext cx="3611880" cy="777240"/>
          </a:xfrm>
          <a:prstGeom prst="roundRect">
            <a:avLst>
              <a:gd name="adj" fmla="val 7059"/>
            </a:avLst>
          </a:prstGeom>
          <a:solidFill>
            <a:srgbClr val="F4F7FC"/>
          </a:solidFill>
          <a:ln/>
        </p:spPr>
      </p:sp>
      <p:sp>
        <p:nvSpPr>
          <p:cNvPr id="35" name="Text 23"/>
          <p:cNvSpPr/>
          <p:nvPr/>
        </p:nvSpPr>
        <p:spPr>
          <a:xfrm>
            <a:off x="8174736" y="2993447"/>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write()</a:t>
            </a:r>
            <a:endParaRPr lang="en-US" sz="1600" dirty="0"/>
          </a:p>
        </p:txBody>
      </p:sp>
      <p:sp>
        <p:nvSpPr>
          <p:cNvPr id="36" name="Text 24"/>
          <p:cNvSpPr/>
          <p:nvPr/>
        </p:nvSpPr>
        <p:spPr>
          <a:xfrm>
            <a:off x="8174736" y="3286055"/>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Write updated balance or ledger entry</a:t>
            </a:r>
            <a:endParaRPr lang="en-US" sz="1600" dirty="0"/>
          </a:p>
        </p:txBody>
      </p:sp>
      <p:sp>
        <p:nvSpPr>
          <p:cNvPr id="37" name="Shape 25"/>
          <p:cNvSpPr/>
          <p:nvPr/>
        </p:nvSpPr>
        <p:spPr>
          <a:xfrm>
            <a:off x="576072" y="3825551"/>
            <a:ext cx="3611880" cy="777240"/>
          </a:xfrm>
          <a:prstGeom prst="roundRect">
            <a:avLst>
              <a:gd name="adj" fmla="val 7059"/>
            </a:avLst>
          </a:prstGeom>
          <a:solidFill>
            <a:srgbClr val="F4F7FC"/>
          </a:solidFill>
          <a:ln/>
        </p:spPr>
      </p:sp>
      <p:sp>
        <p:nvSpPr>
          <p:cNvPr id="38" name="Text 26"/>
          <p:cNvSpPr/>
          <p:nvPr/>
        </p:nvSpPr>
        <p:spPr>
          <a:xfrm>
            <a:off x="713232" y="3898703"/>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close()</a:t>
            </a:r>
            <a:endParaRPr lang="en-US" sz="1600" dirty="0"/>
          </a:p>
        </p:txBody>
      </p:sp>
      <p:sp>
        <p:nvSpPr>
          <p:cNvPr id="39" name="Text 27"/>
          <p:cNvSpPr/>
          <p:nvPr/>
        </p:nvSpPr>
        <p:spPr>
          <a:xfrm>
            <a:off x="713232" y="4191311"/>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Close the active connection</a:t>
            </a:r>
            <a:endParaRPr lang="en-US" sz="1600" dirty="0"/>
          </a:p>
        </p:txBody>
      </p:sp>
      <p:sp>
        <p:nvSpPr>
          <p:cNvPr id="40" name="Shape 28"/>
          <p:cNvSpPr/>
          <p:nvPr/>
        </p:nvSpPr>
        <p:spPr>
          <a:xfrm>
            <a:off x="4306824" y="3825551"/>
            <a:ext cx="3611880" cy="777240"/>
          </a:xfrm>
          <a:prstGeom prst="roundRect">
            <a:avLst>
              <a:gd name="adj" fmla="val 7059"/>
            </a:avLst>
          </a:prstGeom>
          <a:solidFill>
            <a:srgbClr val="F4F7FC"/>
          </a:solidFill>
          <a:ln/>
        </p:spPr>
      </p:sp>
      <p:sp>
        <p:nvSpPr>
          <p:cNvPr id="41" name="Text 29"/>
          <p:cNvSpPr/>
          <p:nvPr/>
        </p:nvSpPr>
        <p:spPr>
          <a:xfrm>
            <a:off x="4443984" y="3898703"/>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fork()</a:t>
            </a:r>
            <a:endParaRPr lang="en-US" sz="1600" dirty="0"/>
          </a:p>
        </p:txBody>
      </p:sp>
      <p:sp>
        <p:nvSpPr>
          <p:cNvPr id="42" name="Text 30"/>
          <p:cNvSpPr/>
          <p:nvPr/>
        </p:nvSpPr>
        <p:spPr>
          <a:xfrm>
            <a:off x="4443984" y="4191311"/>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Create a new process for a request</a:t>
            </a:r>
            <a:endParaRPr lang="en-US" sz="1600" dirty="0"/>
          </a:p>
        </p:txBody>
      </p:sp>
      <p:sp>
        <p:nvSpPr>
          <p:cNvPr id="43" name="Shape 31"/>
          <p:cNvSpPr/>
          <p:nvPr/>
        </p:nvSpPr>
        <p:spPr>
          <a:xfrm>
            <a:off x="8037576" y="3825551"/>
            <a:ext cx="3611880" cy="777240"/>
          </a:xfrm>
          <a:prstGeom prst="roundRect">
            <a:avLst>
              <a:gd name="adj" fmla="val 7059"/>
            </a:avLst>
          </a:prstGeom>
          <a:solidFill>
            <a:srgbClr val="F4F7FC"/>
          </a:solidFill>
          <a:ln/>
        </p:spPr>
      </p:sp>
      <p:sp>
        <p:nvSpPr>
          <p:cNvPr id="44" name="Text 32"/>
          <p:cNvSpPr/>
          <p:nvPr/>
        </p:nvSpPr>
        <p:spPr>
          <a:xfrm>
            <a:off x="8174736" y="3898703"/>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exec()</a:t>
            </a:r>
            <a:endParaRPr lang="en-US" sz="1600" dirty="0"/>
          </a:p>
        </p:txBody>
      </p:sp>
      <p:sp>
        <p:nvSpPr>
          <p:cNvPr id="45" name="Text 33"/>
          <p:cNvSpPr/>
          <p:nvPr/>
        </p:nvSpPr>
        <p:spPr>
          <a:xfrm>
            <a:off x="8174736" y="4191311"/>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Execute a banking service program</a:t>
            </a:r>
            <a:endParaRPr lang="en-US" sz="1600" dirty="0"/>
          </a:p>
        </p:txBody>
      </p:sp>
      <p:sp>
        <p:nvSpPr>
          <p:cNvPr id="46" name="Shape 34"/>
          <p:cNvSpPr/>
          <p:nvPr/>
        </p:nvSpPr>
        <p:spPr>
          <a:xfrm>
            <a:off x="576072" y="4730807"/>
            <a:ext cx="3611880" cy="777240"/>
          </a:xfrm>
          <a:prstGeom prst="roundRect">
            <a:avLst>
              <a:gd name="adj" fmla="val 7059"/>
            </a:avLst>
          </a:prstGeom>
          <a:solidFill>
            <a:srgbClr val="F4F7FC"/>
          </a:solidFill>
          <a:ln/>
        </p:spPr>
      </p:sp>
      <p:sp>
        <p:nvSpPr>
          <p:cNvPr id="47" name="Text 35"/>
          <p:cNvSpPr/>
          <p:nvPr/>
        </p:nvSpPr>
        <p:spPr>
          <a:xfrm>
            <a:off x="713232" y="4803959"/>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socket()</a:t>
            </a:r>
            <a:endParaRPr lang="en-US" sz="1600" dirty="0"/>
          </a:p>
        </p:txBody>
      </p:sp>
      <p:sp>
        <p:nvSpPr>
          <p:cNvPr id="48" name="Text 36"/>
          <p:cNvSpPr/>
          <p:nvPr/>
        </p:nvSpPr>
        <p:spPr>
          <a:xfrm>
            <a:off x="713232" y="5096567"/>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Establish a network connection</a:t>
            </a:r>
            <a:endParaRPr lang="en-US" sz="1600" dirty="0"/>
          </a:p>
        </p:txBody>
      </p:sp>
      <p:sp>
        <p:nvSpPr>
          <p:cNvPr id="49" name="Shape 37"/>
          <p:cNvSpPr/>
          <p:nvPr/>
        </p:nvSpPr>
        <p:spPr>
          <a:xfrm>
            <a:off x="4306824" y="4730807"/>
            <a:ext cx="3611880" cy="777240"/>
          </a:xfrm>
          <a:prstGeom prst="roundRect">
            <a:avLst>
              <a:gd name="adj" fmla="val 7059"/>
            </a:avLst>
          </a:prstGeom>
          <a:solidFill>
            <a:srgbClr val="F4F7FC"/>
          </a:solidFill>
          <a:ln/>
        </p:spPr>
      </p:sp>
      <p:sp>
        <p:nvSpPr>
          <p:cNvPr id="50" name="Text 38"/>
          <p:cNvSpPr/>
          <p:nvPr/>
        </p:nvSpPr>
        <p:spPr>
          <a:xfrm>
            <a:off x="4443984" y="4803959"/>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send()</a:t>
            </a:r>
            <a:endParaRPr lang="en-US" sz="1600" dirty="0"/>
          </a:p>
        </p:txBody>
      </p:sp>
      <p:sp>
        <p:nvSpPr>
          <p:cNvPr id="51" name="Text 39"/>
          <p:cNvSpPr/>
          <p:nvPr/>
        </p:nvSpPr>
        <p:spPr>
          <a:xfrm>
            <a:off x="4443984" y="5096567"/>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Transmit data across the network</a:t>
            </a:r>
            <a:endParaRPr lang="en-US" sz="1600" dirty="0"/>
          </a:p>
        </p:txBody>
      </p:sp>
      <p:sp>
        <p:nvSpPr>
          <p:cNvPr id="52" name="Shape 40"/>
          <p:cNvSpPr/>
          <p:nvPr/>
        </p:nvSpPr>
        <p:spPr>
          <a:xfrm>
            <a:off x="8037576" y="4730807"/>
            <a:ext cx="3611880" cy="777240"/>
          </a:xfrm>
          <a:prstGeom prst="roundRect">
            <a:avLst>
              <a:gd name="adj" fmla="val 7059"/>
            </a:avLst>
          </a:prstGeom>
          <a:solidFill>
            <a:srgbClr val="F4F7FC"/>
          </a:solidFill>
          <a:ln/>
        </p:spPr>
      </p:sp>
      <p:sp>
        <p:nvSpPr>
          <p:cNvPr id="53" name="Text 41"/>
          <p:cNvSpPr/>
          <p:nvPr/>
        </p:nvSpPr>
        <p:spPr>
          <a:xfrm>
            <a:off x="8174736" y="4803959"/>
            <a:ext cx="3337560" cy="292608"/>
          </a:xfrm>
          <a:prstGeom prst="rect">
            <a:avLst/>
          </a:prstGeom>
          <a:noFill/>
          <a:ln/>
        </p:spPr>
        <p:txBody>
          <a:bodyPr wrap="square" rtlCol="0" anchor="ctr"/>
          <a:lstStyle/>
          <a:p>
            <a:pPr marL="0" indent="0">
              <a:buNone/>
            </a:pPr>
            <a:r>
              <a:rPr lang="en-US" sz="1600" b="1" dirty="0">
                <a:solidFill>
                  <a:srgbClr val="00B4D8"/>
                </a:solidFill>
                <a:latin typeface="Courier New" pitchFamily="34" charset="0"/>
                <a:ea typeface="Courier New" pitchFamily="34" charset="-122"/>
                <a:cs typeface="Courier New" pitchFamily="34" charset="-120"/>
              </a:rPr>
              <a:t>recv()</a:t>
            </a:r>
            <a:endParaRPr lang="en-US" sz="1600" dirty="0"/>
          </a:p>
        </p:txBody>
      </p:sp>
      <p:sp>
        <p:nvSpPr>
          <p:cNvPr id="54" name="Text 42"/>
          <p:cNvSpPr/>
          <p:nvPr/>
        </p:nvSpPr>
        <p:spPr>
          <a:xfrm>
            <a:off x="8174736" y="5096567"/>
            <a:ext cx="3337560" cy="365760"/>
          </a:xfrm>
          <a:prstGeom prst="rect">
            <a:avLst/>
          </a:prstGeom>
          <a:noFill/>
          <a:ln/>
        </p:spPr>
        <p:txBody>
          <a:bodyPr wrap="square" rtlCol="0" anchor="ctr"/>
          <a:lstStyle/>
          <a:p>
            <a:pPr marL="0" indent="0">
              <a:lnSpc>
                <a:spcPct val="105000"/>
              </a:lnSpc>
              <a:buNone/>
            </a:pPr>
            <a:r>
              <a:rPr lang="en-US" sz="1600" dirty="0">
                <a:solidFill>
                  <a:srgbClr val="5A6472"/>
                </a:solidFill>
                <a:latin typeface="Calibri" pitchFamily="34" charset="0"/>
                <a:ea typeface="Calibri" pitchFamily="34" charset="-122"/>
                <a:cs typeface="Calibri" pitchFamily="34" charset="-120"/>
              </a:rPr>
              <a:t>Receive data from another system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CASE STUDY</a:t>
            </a:r>
            <a:endParaRPr lang="en-US" sz="1300" dirty="0"/>
          </a:p>
        </p:txBody>
      </p:sp>
      <p:sp>
        <p:nvSpPr>
          <p:cNvPr id="3" name="Text 1"/>
          <p:cNvSpPr/>
          <p:nvPr/>
        </p:nvSpPr>
        <p:spPr>
          <a:xfrm>
            <a:off x="548640" y="658368"/>
            <a:ext cx="10515600" cy="77724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Transaction Processing Using System Calls</a:t>
            </a:r>
            <a:endParaRPr lang="en-US" sz="3000" dirty="0"/>
          </a:p>
        </p:txBody>
      </p:sp>
      <p:sp>
        <p:nvSpPr>
          <p:cNvPr id="4" name="Text 2"/>
          <p:cNvSpPr/>
          <p:nvPr/>
        </p:nvSpPr>
        <p:spPr>
          <a:xfrm>
            <a:off x="11503152" y="6400800"/>
            <a:ext cx="502920" cy="274320"/>
          </a:xfrm>
          <a:prstGeom prst="rect">
            <a:avLst/>
          </a:prstGeom>
          <a:noFill/>
          <a:ln/>
        </p:spPr>
        <p:txBody>
          <a:bodyPr wrap="square" rtlCol="0" anchor="ctr"/>
          <a:lstStyle/>
          <a:p>
            <a:pPr marL="0" indent="0" algn="r">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545336"/>
            <a:ext cx="5577840" cy="658368"/>
          </a:xfrm>
          <a:prstGeom prst="roundRect">
            <a:avLst>
              <a:gd name="adj" fmla="val 9722"/>
            </a:avLst>
          </a:prstGeom>
          <a:solidFill>
            <a:srgbClr val="F4F7FC"/>
          </a:solidFill>
          <a:ln/>
        </p:spPr>
      </p:sp>
      <p:sp>
        <p:nvSpPr>
          <p:cNvPr id="6" name="Shape 4"/>
          <p:cNvSpPr/>
          <p:nvPr/>
        </p:nvSpPr>
        <p:spPr>
          <a:xfrm>
            <a:off x="713232" y="1645920"/>
            <a:ext cx="457200" cy="457200"/>
          </a:xfrm>
          <a:prstGeom prst="ellipse">
            <a:avLst/>
          </a:prstGeom>
          <a:solidFill>
            <a:srgbClr val="FFFFFF"/>
          </a:solidFill>
          <a:ln/>
        </p:spPr>
      </p:sp>
      <p:pic>
        <p:nvPicPr>
          <p:cNvPr id="7" name="Image 0" descr="/home/claude/banking_os/icons/users_navy.png"/>
          <p:cNvPicPr>
            <a:picLocks noChangeAspect="1"/>
          </p:cNvPicPr>
          <p:nvPr/>
        </p:nvPicPr>
        <p:blipFill>
          <a:blip r:embed="rId3"/>
          <a:stretch>
            <a:fillRect/>
          </a:stretch>
        </p:blipFill>
        <p:spPr>
          <a:xfrm>
            <a:off x="816102" y="1748790"/>
            <a:ext cx="251460" cy="251460"/>
          </a:xfrm>
          <a:prstGeom prst="rect">
            <a:avLst/>
          </a:prstGeom>
        </p:spPr>
      </p:pic>
      <p:sp>
        <p:nvSpPr>
          <p:cNvPr id="8" name="Text 5"/>
          <p:cNvSpPr/>
          <p:nvPr/>
        </p:nvSpPr>
        <p:spPr>
          <a:xfrm>
            <a:off x="1325880" y="1618488"/>
            <a:ext cx="461772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Customer</a:t>
            </a:r>
            <a:endParaRPr lang="en-US" sz="1400" dirty="0"/>
          </a:p>
        </p:txBody>
      </p:sp>
      <p:sp>
        <p:nvSpPr>
          <p:cNvPr id="9" name="Text 6"/>
          <p:cNvSpPr/>
          <p:nvPr/>
        </p:nvSpPr>
        <p:spPr>
          <a:xfrm>
            <a:off x="1325880" y="1892808"/>
            <a:ext cx="4617720" cy="292608"/>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Initiates a transaction request</a:t>
            </a:r>
            <a:endParaRPr lang="en-US" sz="1400" dirty="0"/>
          </a:p>
        </p:txBody>
      </p:sp>
      <p:pic>
        <p:nvPicPr>
          <p:cNvPr id="10" name="Image 1" descr="/home/claude/banking_os/icons/arrow_down.png"/>
          <p:cNvPicPr>
            <a:picLocks noChangeAspect="1"/>
          </p:cNvPicPr>
          <p:nvPr/>
        </p:nvPicPr>
        <p:blipFill>
          <a:blip r:embed="rId4"/>
          <a:stretch>
            <a:fillRect/>
          </a:stretch>
        </p:blipFill>
        <p:spPr>
          <a:xfrm>
            <a:off x="777240" y="2231136"/>
            <a:ext cx="201168" cy="146304"/>
          </a:xfrm>
          <a:prstGeom prst="rect">
            <a:avLst/>
          </a:prstGeom>
        </p:spPr>
      </p:pic>
      <p:sp>
        <p:nvSpPr>
          <p:cNvPr id="11" name="Shape 7"/>
          <p:cNvSpPr/>
          <p:nvPr/>
        </p:nvSpPr>
        <p:spPr>
          <a:xfrm>
            <a:off x="548640" y="2404872"/>
            <a:ext cx="5577840" cy="658368"/>
          </a:xfrm>
          <a:prstGeom prst="roundRect">
            <a:avLst>
              <a:gd name="adj" fmla="val 9722"/>
            </a:avLst>
          </a:prstGeom>
          <a:solidFill>
            <a:srgbClr val="F4F7FC"/>
          </a:solidFill>
          <a:ln/>
        </p:spPr>
      </p:sp>
      <p:sp>
        <p:nvSpPr>
          <p:cNvPr id="12" name="Shape 8"/>
          <p:cNvSpPr/>
          <p:nvPr/>
        </p:nvSpPr>
        <p:spPr>
          <a:xfrm>
            <a:off x="713232" y="2505456"/>
            <a:ext cx="457200" cy="457200"/>
          </a:xfrm>
          <a:prstGeom prst="ellipse">
            <a:avLst/>
          </a:prstGeom>
          <a:solidFill>
            <a:srgbClr val="FFFFFF"/>
          </a:solidFill>
          <a:ln/>
        </p:spPr>
      </p:sp>
      <p:pic>
        <p:nvPicPr>
          <p:cNvPr id="13" name="Image 2" descr="/home/claude/banking_os/icons/mobile.png"/>
          <p:cNvPicPr>
            <a:picLocks noChangeAspect="1"/>
          </p:cNvPicPr>
          <p:nvPr/>
        </p:nvPicPr>
        <p:blipFill>
          <a:blip r:embed="rId5"/>
          <a:stretch>
            <a:fillRect/>
          </a:stretch>
        </p:blipFill>
        <p:spPr>
          <a:xfrm>
            <a:off x="816102" y="2608326"/>
            <a:ext cx="251460" cy="251460"/>
          </a:xfrm>
          <a:prstGeom prst="rect">
            <a:avLst/>
          </a:prstGeom>
        </p:spPr>
      </p:pic>
      <p:sp>
        <p:nvSpPr>
          <p:cNvPr id="14" name="Text 9"/>
          <p:cNvSpPr/>
          <p:nvPr/>
        </p:nvSpPr>
        <p:spPr>
          <a:xfrm>
            <a:off x="1325880" y="2478024"/>
            <a:ext cx="461772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Banking Application</a:t>
            </a:r>
            <a:endParaRPr lang="en-US" sz="1400" dirty="0"/>
          </a:p>
        </p:txBody>
      </p:sp>
      <p:sp>
        <p:nvSpPr>
          <p:cNvPr id="15" name="Text 10"/>
          <p:cNvSpPr/>
          <p:nvPr/>
        </p:nvSpPr>
        <p:spPr>
          <a:xfrm>
            <a:off x="1325880" y="2752344"/>
            <a:ext cx="4617720" cy="292608"/>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Captures and validates the request</a:t>
            </a:r>
            <a:endParaRPr lang="en-US" sz="1400" dirty="0"/>
          </a:p>
        </p:txBody>
      </p:sp>
      <p:pic>
        <p:nvPicPr>
          <p:cNvPr id="16" name="Image 3" descr="/home/claude/banking_os/icons/arrow_down.png"/>
          <p:cNvPicPr>
            <a:picLocks noChangeAspect="1"/>
          </p:cNvPicPr>
          <p:nvPr/>
        </p:nvPicPr>
        <p:blipFill>
          <a:blip r:embed="rId4"/>
          <a:stretch>
            <a:fillRect/>
          </a:stretch>
        </p:blipFill>
        <p:spPr>
          <a:xfrm>
            <a:off x="777240" y="3090672"/>
            <a:ext cx="201168" cy="146304"/>
          </a:xfrm>
          <a:prstGeom prst="rect">
            <a:avLst/>
          </a:prstGeom>
        </p:spPr>
      </p:pic>
      <p:sp>
        <p:nvSpPr>
          <p:cNvPr id="17" name="Shape 11"/>
          <p:cNvSpPr/>
          <p:nvPr/>
        </p:nvSpPr>
        <p:spPr>
          <a:xfrm>
            <a:off x="548640" y="3264408"/>
            <a:ext cx="5577840" cy="868680"/>
          </a:xfrm>
          <a:prstGeom prst="roundRect">
            <a:avLst>
              <a:gd name="adj" fmla="val 7368"/>
            </a:avLst>
          </a:prstGeom>
          <a:solidFill>
            <a:srgbClr val="F4F7FC"/>
          </a:solidFill>
          <a:ln/>
        </p:spPr>
      </p:sp>
      <p:sp>
        <p:nvSpPr>
          <p:cNvPr id="18" name="Shape 12"/>
          <p:cNvSpPr/>
          <p:nvPr/>
        </p:nvSpPr>
        <p:spPr>
          <a:xfrm>
            <a:off x="713232" y="3470148"/>
            <a:ext cx="457200" cy="457200"/>
          </a:xfrm>
          <a:prstGeom prst="ellipse">
            <a:avLst/>
          </a:prstGeom>
          <a:solidFill>
            <a:srgbClr val="F4F7FC"/>
          </a:solidFill>
          <a:ln/>
        </p:spPr>
      </p:sp>
      <p:pic>
        <p:nvPicPr>
          <p:cNvPr id="19" name="Image 4" descr="/home/claude/banking_os/icons/code.png"/>
          <p:cNvPicPr>
            <a:picLocks noChangeAspect="1"/>
          </p:cNvPicPr>
          <p:nvPr/>
        </p:nvPicPr>
        <p:blipFill>
          <a:blip r:embed="rId6"/>
          <a:stretch>
            <a:fillRect/>
          </a:stretch>
        </p:blipFill>
        <p:spPr>
          <a:xfrm>
            <a:off x="816102" y="3573018"/>
            <a:ext cx="251460" cy="251460"/>
          </a:xfrm>
          <a:prstGeom prst="rect">
            <a:avLst/>
          </a:prstGeom>
        </p:spPr>
      </p:pic>
      <p:sp>
        <p:nvSpPr>
          <p:cNvPr id="20" name="Text 13"/>
          <p:cNvSpPr/>
          <p:nvPr/>
        </p:nvSpPr>
        <p:spPr>
          <a:xfrm>
            <a:off x="1325880" y="3337560"/>
            <a:ext cx="4617720" cy="29260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System Callas Issued</a:t>
            </a:r>
            <a:endParaRPr lang="en-US" sz="1400" dirty="0"/>
          </a:p>
        </p:txBody>
      </p:sp>
      <p:sp>
        <p:nvSpPr>
          <p:cNvPr id="21" name="Text 14"/>
          <p:cNvSpPr/>
          <p:nvPr/>
        </p:nvSpPr>
        <p:spPr>
          <a:xfrm>
            <a:off x="1325880" y="3611880"/>
            <a:ext cx="4617720" cy="502920"/>
          </a:xfrm>
          <a:prstGeom prst="rect">
            <a:avLst/>
          </a:prstGeom>
          <a:noFill/>
          <a:ln/>
        </p:spPr>
        <p:txBody>
          <a:bodyPr wrap="square" rtlCol="0" anchor="ctr"/>
          <a:lstStyle/>
          <a:p>
            <a:pPr marL="0" indent="0">
              <a:lnSpc>
                <a:spcPct val="105000"/>
              </a:lnSpc>
              <a:buNone/>
            </a:pPr>
            <a:r>
              <a:rPr lang="en-US" sz="1400" dirty="0">
                <a:latin typeface="Courier New" pitchFamily="34" charset="0"/>
                <a:ea typeface="Courier New" pitchFamily="34" charset="-122"/>
                <a:cs typeface="Courier New" pitchFamily="34" charset="-120"/>
              </a:rPr>
              <a:t>open() → read() → write() → send() → recv() → close()</a:t>
            </a:r>
            <a:endParaRPr lang="en-US" sz="1400" dirty="0"/>
          </a:p>
        </p:txBody>
      </p:sp>
      <p:pic>
        <p:nvPicPr>
          <p:cNvPr id="22" name="Image 5" descr="/home/claude/banking_os/icons/arrow_down.png"/>
          <p:cNvPicPr>
            <a:picLocks noChangeAspect="1"/>
          </p:cNvPicPr>
          <p:nvPr/>
        </p:nvPicPr>
        <p:blipFill>
          <a:blip r:embed="rId4"/>
          <a:stretch>
            <a:fillRect/>
          </a:stretch>
        </p:blipFill>
        <p:spPr>
          <a:xfrm>
            <a:off x="777240" y="4160520"/>
            <a:ext cx="201168" cy="146304"/>
          </a:xfrm>
          <a:prstGeom prst="rect">
            <a:avLst/>
          </a:prstGeom>
        </p:spPr>
      </p:pic>
      <p:sp>
        <p:nvSpPr>
          <p:cNvPr id="23" name="Shape 15"/>
          <p:cNvSpPr/>
          <p:nvPr/>
        </p:nvSpPr>
        <p:spPr>
          <a:xfrm>
            <a:off x="548640" y="4334256"/>
            <a:ext cx="5577840" cy="658368"/>
          </a:xfrm>
          <a:prstGeom prst="roundRect">
            <a:avLst>
              <a:gd name="adj" fmla="val 9722"/>
            </a:avLst>
          </a:prstGeom>
          <a:solidFill>
            <a:srgbClr val="F4F7FC"/>
          </a:solidFill>
          <a:ln/>
        </p:spPr>
      </p:sp>
      <p:sp>
        <p:nvSpPr>
          <p:cNvPr id="24" name="Shape 16"/>
          <p:cNvSpPr/>
          <p:nvPr/>
        </p:nvSpPr>
        <p:spPr>
          <a:xfrm>
            <a:off x="713232" y="4434840"/>
            <a:ext cx="457200" cy="457200"/>
          </a:xfrm>
          <a:prstGeom prst="ellipse">
            <a:avLst/>
          </a:prstGeom>
          <a:solidFill>
            <a:srgbClr val="FFFFFF"/>
          </a:solidFill>
          <a:ln/>
        </p:spPr>
      </p:sp>
      <p:pic>
        <p:nvPicPr>
          <p:cNvPr id="25" name="Image 6" descr="/home/claude/banking_os/icons/cogs.png"/>
          <p:cNvPicPr>
            <a:picLocks noChangeAspect="1"/>
          </p:cNvPicPr>
          <p:nvPr/>
        </p:nvPicPr>
        <p:blipFill>
          <a:blip r:embed="rId7"/>
          <a:stretch>
            <a:fillRect/>
          </a:stretch>
        </p:blipFill>
        <p:spPr>
          <a:xfrm>
            <a:off x="816102" y="4537710"/>
            <a:ext cx="251460" cy="251460"/>
          </a:xfrm>
          <a:prstGeom prst="rect">
            <a:avLst/>
          </a:prstGeom>
        </p:spPr>
      </p:pic>
      <p:sp>
        <p:nvSpPr>
          <p:cNvPr id="26" name="Text 17"/>
          <p:cNvSpPr/>
          <p:nvPr/>
        </p:nvSpPr>
        <p:spPr>
          <a:xfrm>
            <a:off x="1325880" y="4407408"/>
            <a:ext cx="461772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Operating System</a:t>
            </a:r>
            <a:endParaRPr lang="en-US" sz="1400" dirty="0"/>
          </a:p>
        </p:txBody>
      </p:sp>
      <p:sp>
        <p:nvSpPr>
          <p:cNvPr id="27" name="Text 18"/>
          <p:cNvSpPr/>
          <p:nvPr/>
        </p:nvSpPr>
        <p:spPr>
          <a:xfrm>
            <a:off x="1325880" y="4681728"/>
            <a:ext cx="4617720" cy="292608"/>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Executes calls securely via the kernel</a:t>
            </a:r>
            <a:endParaRPr lang="en-US" sz="1400" dirty="0"/>
          </a:p>
        </p:txBody>
      </p:sp>
      <p:pic>
        <p:nvPicPr>
          <p:cNvPr id="28" name="Image 7" descr="/home/claude/banking_os/icons/arrow_down.png"/>
          <p:cNvPicPr>
            <a:picLocks noChangeAspect="1"/>
          </p:cNvPicPr>
          <p:nvPr/>
        </p:nvPicPr>
        <p:blipFill>
          <a:blip r:embed="rId4"/>
          <a:stretch>
            <a:fillRect/>
          </a:stretch>
        </p:blipFill>
        <p:spPr>
          <a:xfrm>
            <a:off x="777240" y="5020056"/>
            <a:ext cx="201168" cy="146304"/>
          </a:xfrm>
          <a:prstGeom prst="rect">
            <a:avLst/>
          </a:prstGeom>
        </p:spPr>
      </p:pic>
      <p:sp>
        <p:nvSpPr>
          <p:cNvPr id="29" name="Shape 19"/>
          <p:cNvSpPr/>
          <p:nvPr/>
        </p:nvSpPr>
        <p:spPr>
          <a:xfrm>
            <a:off x="548640" y="5193792"/>
            <a:ext cx="5577840" cy="658368"/>
          </a:xfrm>
          <a:prstGeom prst="roundRect">
            <a:avLst>
              <a:gd name="adj" fmla="val 9722"/>
            </a:avLst>
          </a:prstGeom>
          <a:solidFill>
            <a:srgbClr val="E4F7FA"/>
          </a:solidFill>
          <a:ln w="12700">
            <a:solidFill>
              <a:srgbClr val="00B4D8"/>
            </a:solidFill>
            <a:prstDash val="solid"/>
          </a:ln>
        </p:spPr>
      </p:sp>
      <p:sp>
        <p:nvSpPr>
          <p:cNvPr id="30" name="Shape 20"/>
          <p:cNvSpPr/>
          <p:nvPr/>
        </p:nvSpPr>
        <p:spPr>
          <a:xfrm>
            <a:off x="713232" y="5294376"/>
            <a:ext cx="457200" cy="457200"/>
          </a:xfrm>
          <a:prstGeom prst="ellipse">
            <a:avLst/>
          </a:prstGeom>
          <a:solidFill>
            <a:srgbClr val="FFFFFF"/>
          </a:solidFill>
          <a:ln/>
        </p:spPr>
      </p:sp>
      <p:pic>
        <p:nvPicPr>
          <p:cNvPr id="31" name="Image 8" descr="/home/claude/banking_os/icons/checkcircle.png"/>
          <p:cNvPicPr>
            <a:picLocks noChangeAspect="1"/>
          </p:cNvPicPr>
          <p:nvPr/>
        </p:nvPicPr>
        <p:blipFill>
          <a:blip r:embed="rId8"/>
          <a:stretch>
            <a:fillRect/>
          </a:stretch>
        </p:blipFill>
        <p:spPr>
          <a:xfrm>
            <a:off x="816102" y="5397246"/>
            <a:ext cx="251460" cy="251460"/>
          </a:xfrm>
          <a:prstGeom prst="rect">
            <a:avLst/>
          </a:prstGeom>
        </p:spPr>
      </p:pic>
      <p:sp>
        <p:nvSpPr>
          <p:cNvPr id="32" name="Text 21"/>
          <p:cNvSpPr/>
          <p:nvPr/>
        </p:nvSpPr>
        <p:spPr>
          <a:xfrm>
            <a:off x="1325880" y="5266944"/>
            <a:ext cx="461772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Database Updated Successfully</a:t>
            </a:r>
            <a:endParaRPr lang="en-US" sz="1400" dirty="0"/>
          </a:p>
        </p:txBody>
      </p:sp>
      <p:sp>
        <p:nvSpPr>
          <p:cNvPr id="33" name="Text 22"/>
          <p:cNvSpPr/>
          <p:nvPr/>
        </p:nvSpPr>
        <p:spPr>
          <a:xfrm>
            <a:off x="1325880" y="5541264"/>
            <a:ext cx="4617720" cy="292608"/>
          </a:xfrm>
          <a:prstGeom prst="rect">
            <a:avLst/>
          </a:prstGeom>
          <a:noFill/>
          <a:ln/>
        </p:spPr>
        <p:txBody>
          <a:bodyPr wrap="square" rtlCol="0" anchor="ctr"/>
          <a:lstStyle/>
          <a:p>
            <a:pPr marL="0" indent="0">
              <a:lnSpc>
                <a:spcPct val="105000"/>
              </a:lnSpc>
              <a:buNone/>
            </a:pPr>
            <a:r>
              <a:rPr lang="en-US" sz="1400" dirty="0">
                <a:solidFill>
                  <a:srgbClr val="5A6472"/>
                </a:solidFill>
                <a:latin typeface="Calibri" pitchFamily="34" charset="0"/>
                <a:ea typeface="Calibri" pitchFamily="34" charset="-122"/>
                <a:cs typeface="Calibri" pitchFamily="34" charset="-120"/>
              </a:rPr>
              <a:t>Transaction committed and confirmed</a:t>
            </a:r>
            <a:endParaRPr lang="en-US" sz="1400" dirty="0"/>
          </a:p>
        </p:txBody>
      </p:sp>
      <p:sp>
        <p:nvSpPr>
          <p:cNvPr id="34" name="Shape 23"/>
          <p:cNvSpPr/>
          <p:nvPr/>
        </p:nvSpPr>
        <p:spPr>
          <a:xfrm>
            <a:off x="6492240" y="1545336"/>
            <a:ext cx="5166360" cy="4937760"/>
          </a:xfrm>
          <a:prstGeom prst="roundRect">
            <a:avLst>
              <a:gd name="adj" fmla="val 1852"/>
            </a:avLst>
          </a:prstGeom>
          <a:solidFill>
            <a:srgbClr val="F4F7FC"/>
          </a:solidFill>
          <a:ln/>
        </p:spPr>
      </p:sp>
      <p:sp>
        <p:nvSpPr>
          <p:cNvPr id="35" name="Text 24"/>
          <p:cNvSpPr/>
          <p:nvPr/>
        </p:nvSpPr>
        <p:spPr>
          <a:xfrm>
            <a:off x="6766560" y="1755648"/>
            <a:ext cx="4572000" cy="292608"/>
          </a:xfrm>
          <a:prstGeom prst="rect">
            <a:avLst/>
          </a:prstGeom>
          <a:noFill/>
          <a:ln/>
        </p:spPr>
        <p:txBody>
          <a:bodyPr wrap="square" rtlCol="0" anchor="ctr"/>
          <a:lstStyle/>
          <a:p>
            <a:pPr marL="0" indent="0">
              <a:buNone/>
            </a:pPr>
            <a:r>
              <a:rPr lang="en-US" sz="1400" b="1" kern="0" spc="100" dirty="0">
                <a:solidFill>
                  <a:srgbClr val="1E2761"/>
                </a:solidFill>
                <a:latin typeface="Calibri" pitchFamily="34" charset="0"/>
                <a:ea typeface="Calibri" pitchFamily="34" charset="-122"/>
                <a:cs typeface="Calibri" pitchFamily="34" charset="-120"/>
              </a:rPr>
              <a:t>STEP-BY-STEP EXPLANATION</a:t>
            </a:r>
            <a:endParaRPr lang="en-US" sz="1400" dirty="0"/>
          </a:p>
        </p:txBody>
      </p:sp>
      <p:sp>
        <p:nvSpPr>
          <p:cNvPr id="36" name="Shape 25"/>
          <p:cNvSpPr/>
          <p:nvPr/>
        </p:nvSpPr>
        <p:spPr>
          <a:xfrm>
            <a:off x="6766560" y="2185416"/>
            <a:ext cx="365760" cy="365760"/>
          </a:xfrm>
          <a:prstGeom prst="ellipse">
            <a:avLst/>
          </a:prstGeom>
          <a:solidFill>
            <a:srgbClr val="1E2761"/>
          </a:solidFill>
          <a:ln/>
        </p:spPr>
      </p:sp>
      <p:sp>
        <p:nvSpPr>
          <p:cNvPr id="37" name="Text 26"/>
          <p:cNvSpPr/>
          <p:nvPr/>
        </p:nvSpPr>
        <p:spPr>
          <a:xfrm>
            <a:off x="6766560" y="21854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8" name="Text 27"/>
          <p:cNvSpPr/>
          <p:nvPr/>
        </p:nvSpPr>
        <p:spPr>
          <a:xfrm>
            <a:off x="7269480" y="21579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Open the database connection to the customer’s account</a:t>
            </a:r>
            <a:endParaRPr lang="en-US" sz="1400" dirty="0"/>
          </a:p>
        </p:txBody>
      </p:sp>
      <p:sp>
        <p:nvSpPr>
          <p:cNvPr id="39" name="Shape 28"/>
          <p:cNvSpPr/>
          <p:nvPr/>
        </p:nvSpPr>
        <p:spPr>
          <a:xfrm>
            <a:off x="6766560" y="2871216"/>
            <a:ext cx="365760" cy="365760"/>
          </a:xfrm>
          <a:prstGeom prst="ellipse">
            <a:avLst/>
          </a:prstGeom>
          <a:solidFill>
            <a:srgbClr val="1E2761"/>
          </a:solidFill>
          <a:ln/>
        </p:spPr>
      </p:sp>
      <p:sp>
        <p:nvSpPr>
          <p:cNvPr id="40" name="Text 29"/>
          <p:cNvSpPr/>
          <p:nvPr/>
        </p:nvSpPr>
        <p:spPr>
          <a:xfrm>
            <a:off x="6766560" y="28712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1" name="Text 30"/>
          <p:cNvSpPr/>
          <p:nvPr/>
        </p:nvSpPr>
        <p:spPr>
          <a:xfrm>
            <a:off x="7269480" y="28437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Read account details and current balance</a:t>
            </a:r>
            <a:endParaRPr lang="en-US" sz="1400" dirty="0"/>
          </a:p>
        </p:txBody>
      </p:sp>
      <p:sp>
        <p:nvSpPr>
          <p:cNvPr id="42" name="Shape 31"/>
          <p:cNvSpPr/>
          <p:nvPr/>
        </p:nvSpPr>
        <p:spPr>
          <a:xfrm>
            <a:off x="6766560" y="3557016"/>
            <a:ext cx="365760" cy="365760"/>
          </a:xfrm>
          <a:prstGeom prst="ellipse">
            <a:avLst/>
          </a:prstGeom>
          <a:solidFill>
            <a:srgbClr val="1E2761"/>
          </a:solidFill>
          <a:ln/>
        </p:spPr>
      </p:sp>
      <p:sp>
        <p:nvSpPr>
          <p:cNvPr id="43" name="Text 32"/>
          <p:cNvSpPr/>
          <p:nvPr/>
        </p:nvSpPr>
        <p:spPr>
          <a:xfrm>
            <a:off x="6766560" y="35570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4" name="Text 33"/>
          <p:cNvSpPr/>
          <p:nvPr/>
        </p:nvSpPr>
        <p:spPr>
          <a:xfrm>
            <a:off x="7269480" y="35295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Verify sufficient balance and transaction validity</a:t>
            </a:r>
            <a:endParaRPr lang="en-US" sz="1400" dirty="0"/>
          </a:p>
        </p:txBody>
      </p:sp>
      <p:sp>
        <p:nvSpPr>
          <p:cNvPr id="45" name="Shape 34"/>
          <p:cNvSpPr/>
          <p:nvPr/>
        </p:nvSpPr>
        <p:spPr>
          <a:xfrm>
            <a:off x="6766560" y="4242816"/>
            <a:ext cx="365760" cy="365760"/>
          </a:xfrm>
          <a:prstGeom prst="ellipse">
            <a:avLst/>
          </a:prstGeom>
          <a:solidFill>
            <a:srgbClr val="1E2761"/>
          </a:solidFill>
          <a:ln/>
        </p:spPr>
      </p:sp>
      <p:sp>
        <p:nvSpPr>
          <p:cNvPr id="46" name="Text 35"/>
          <p:cNvSpPr/>
          <p:nvPr/>
        </p:nvSpPr>
        <p:spPr>
          <a:xfrm>
            <a:off x="6766560" y="42428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7" name="Text 36"/>
          <p:cNvSpPr/>
          <p:nvPr/>
        </p:nvSpPr>
        <p:spPr>
          <a:xfrm>
            <a:off x="7269480" y="42153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Update the database with the new balance</a:t>
            </a:r>
            <a:endParaRPr lang="en-US" sz="1400" dirty="0"/>
          </a:p>
        </p:txBody>
      </p:sp>
      <p:sp>
        <p:nvSpPr>
          <p:cNvPr id="48" name="Shape 37"/>
          <p:cNvSpPr/>
          <p:nvPr/>
        </p:nvSpPr>
        <p:spPr>
          <a:xfrm>
            <a:off x="6766560" y="4928616"/>
            <a:ext cx="365760" cy="365760"/>
          </a:xfrm>
          <a:prstGeom prst="ellipse">
            <a:avLst/>
          </a:prstGeom>
          <a:solidFill>
            <a:srgbClr val="1E2761"/>
          </a:solidFill>
          <a:ln/>
        </p:spPr>
      </p:sp>
      <p:sp>
        <p:nvSpPr>
          <p:cNvPr id="49" name="Text 38"/>
          <p:cNvSpPr/>
          <p:nvPr/>
        </p:nvSpPr>
        <p:spPr>
          <a:xfrm>
            <a:off x="6766560" y="49286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0" name="Text 39"/>
          <p:cNvSpPr/>
          <p:nvPr/>
        </p:nvSpPr>
        <p:spPr>
          <a:xfrm>
            <a:off x="7269480" y="49011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Commit the transaction permanently</a:t>
            </a:r>
            <a:endParaRPr lang="en-US" sz="1400" dirty="0"/>
          </a:p>
        </p:txBody>
      </p:sp>
      <p:sp>
        <p:nvSpPr>
          <p:cNvPr id="51" name="Shape 40"/>
          <p:cNvSpPr/>
          <p:nvPr/>
        </p:nvSpPr>
        <p:spPr>
          <a:xfrm>
            <a:off x="6766560" y="5614416"/>
            <a:ext cx="365760" cy="365760"/>
          </a:xfrm>
          <a:prstGeom prst="ellipse">
            <a:avLst/>
          </a:prstGeom>
          <a:solidFill>
            <a:srgbClr val="1E2761"/>
          </a:solidFill>
          <a:ln/>
        </p:spPr>
      </p:sp>
      <p:sp>
        <p:nvSpPr>
          <p:cNvPr id="52" name="Text 41"/>
          <p:cNvSpPr/>
          <p:nvPr/>
        </p:nvSpPr>
        <p:spPr>
          <a:xfrm>
            <a:off x="6766560" y="561441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53" name="Text 42"/>
          <p:cNvSpPr/>
          <p:nvPr/>
        </p:nvSpPr>
        <p:spPr>
          <a:xfrm>
            <a:off x="7269480" y="5586984"/>
            <a:ext cx="4206240" cy="548640"/>
          </a:xfrm>
          <a:prstGeom prst="rect">
            <a:avLst/>
          </a:prstGeom>
          <a:noFill/>
          <a:ln/>
        </p:spPr>
        <p:txBody>
          <a:bodyPr wrap="square" rtlCol="0" anchor="ctr"/>
          <a:lstStyle/>
          <a:p>
            <a:pPr marL="0" indent="0">
              <a:lnSpc>
                <a:spcPct val="110000"/>
              </a:lnSpc>
              <a:buNone/>
            </a:pPr>
            <a:r>
              <a:rPr lang="en-US" sz="1400" dirty="0">
                <a:solidFill>
                  <a:srgbClr val="1B1B2F"/>
                </a:solidFill>
                <a:latin typeface="Calibri" pitchFamily="34" charset="0"/>
                <a:ea typeface="Calibri" pitchFamily="34" charset="-122"/>
                <a:cs typeface="Calibri" pitchFamily="34" charset="-120"/>
              </a:rPr>
              <a:t>Close the connection and release resources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548640" y="502920"/>
            <a:ext cx="5486400" cy="320040"/>
          </a:xfrm>
          <a:prstGeom prst="rect">
            <a:avLst/>
          </a:prstGeom>
          <a:noFill/>
          <a:ln/>
        </p:spPr>
        <p:txBody>
          <a:bodyPr wrap="square" rtlCol="0" anchor="ctr"/>
          <a:lstStyle/>
          <a:p>
            <a:pPr marL="0" indent="0">
              <a:buNone/>
            </a:pPr>
            <a:r>
              <a:rPr lang="en-US" b="1" kern="0" spc="200" dirty="0">
                <a:solidFill>
                  <a:srgbClr val="0070C0"/>
                </a:solidFill>
                <a:latin typeface="Calibri" pitchFamily="34" charset="0"/>
                <a:ea typeface="Calibri" pitchFamily="34" charset="-122"/>
                <a:cs typeface="Calibri" pitchFamily="34" charset="-120"/>
              </a:rPr>
              <a:t>CONCLUSION</a:t>
            </a:r>
            <a:endParaRPr lang="en-US" dirty="0">
              <a:solidFill>
                <a:srgbClr val="0070C0"/>
              </a:solidFill>
            </a:endParaRPr>
          </a:p>
        </p:txBody>
      </p:sp>
      <p:sp>
        <p:nvSpPr>
          <p:cNvPr id="5" name="Text 3"/>
          <p:cNvSpPr/>
          <p:nvPr/>
        </p:nvSpPr>
        <p:spPr>
          <a:xfrm>
            <a:off x="548640" y="804672"/>
            <a:ext cx="10515600" cy="640080"/>
          </a:xfrm>
          <a:prstGeom prst="rect">
            <a:avLst/>
          </a:prstGeom>
          <a:noFill/>
          <a:ln/>
        </p:spPr>
        <p:txBody>
          <a:bodyPr wrap="square" rtlCol="0" anchor="ctr"/>
          <a:lstStyle/>
          <a:p>
            <a:pPr marL="0" indent="0">
              <a:buNone/>
            </a:pPr>
            <a:r>
              <a:rPr lang="en-US" sz="2000" b="1" dirty="0">
                <a:solidFill>
                  <a:schemeClr val="tx2"/>
                </a:solidFill>
                <a:latin typeface="Calibri" pitchFamily="34" charset="0"/>
                <a:ea typeface="Calibri" pitchFamily="34" charset="-122"/>
                <a:cs typeface="Calibri" pitchFamily="34" charset="-120"/>
              </a:rPr>
              <a:t>The Operating System: Banking’s Silent Backbone</a:t>
            </a:r>
            <a:endParaRPr lang="en-US" sz="2000" dirty="0">
              <a:solidFill>
                <a:schemeClr val="tx2"/>
              </a:solidFill>
            </a:endParaRPr>
          </a:p>
        </p:txBody>
      </p:sp>
      <p:sp>
        <p:nvSpPr>
          <p:cNvPr id="6" name="Shape 4"/>
          <p:cNvSpPr/>
          <p:nvPr/>
        </p:nvSpPr>
        <p:spPr>
          <a:xfrm>
            <a:off x="548640" y="1691640"/>
            <a:ext cx="548640" cy="548640"/>
          </a:xfrm>
          <a:prstGeom prst="ellipse">
            <a:avLst/>
          </a:prstGeom>
          <a:solidFill>
            <a:srgbClr val="2A3676"/>
          </a:solidFill>
          <a:ln/>
        </p:spPr>
      </p:sp>
      <p:pic>
        <p:nvPicPr>
          <p:cNvPr id="7" name="Image 0" descr="/home/claude/banking_os/icons/cubes.png"/>
          <p:cNvPicPr>
            <a:picLocks noChangeAspect="1"/>
          </p:cNvPicPr>
          <p:nvPr/>
        </p:nvPicPr>
        <p:blipFill>
          <a:blip r:embed="rId3"/>
          <a:stretch>
            <a:fillRect/>
          </a:stretch>
        </p:blipFill>
        <p:spPr>
          <a:xfrm>
            <a:off x="672084" y="1815084"/>
            <a:ext cx="301752" cy="301752"/>
          </a:xfrm>
          <a:prstGeom prst="rect">
            <a:avLst/>
          </a:prstGeom>
        </p:spPr>
      </p:pic>
      <p:sp>
        <p:nvSpPr>
          <p:cNvPr id="8" name="Text 5"/>
          <p:cNvSpPr/>
          <p:nvPr/>
        </p:nvSpPr>
        <p:spPr>
          <a:xfrm>
            <a:off x="1280160" y="1645920"/>
            <a:ext cx="10241280" cy="822960"/>
          </a:xfrm>
          <a:prstGeom prst="rect">
            <a:avLst/>
          </a:prstGeom>
          <a:noFill/>
          <a:ln/>
        </p:spPr>
        <p:txBody>
          <a:bodyPr wrap="square" rtlCol="0" anchor="ctr"/>
          <a:lstStyle/>
          <a:p>
            <a:pPr marL="0" indent="0">
              <a:lnSpc>
                <a:spcPct val="115000"/>
              </a:lnSpc>
              <a:buNone/>
            </a:pPr>
            <a:r>
              <a:rPr lang="en-US" sz="1600" dirty="0">
                <a:latin typeface="Calibri" pitchFamily="34" charset="0"/>
                <a:ea typeface="Calibri" pitchFamily="34" charset="-122"/>
                <a:cs typeface="Calibri" pitchFamily="34" charset="-120"/>
              </a:rPr>
              <a:t>Banking systems require Multiuser, Multitasking, Multiprocessing, Distributed, and Real-Time OS capabilities working together.</a:t>
            </a:r>
            <a:endParaRPr lang="en-US" sz="1600" dirty="0"/>
          </a:p>
        </p:txBody>
      </p:sp>
      <p:sp>
        <p:nvSpPr>
          <p:cNvPr id="9" name="Shape 6"/>
          <p:cNvSpPr/>
          <p:nvPr/>
        </p:nvSpPr>
        <p:spPr>
          <a:xfrm>
            <a:off x="548640" y="2651760"/>
            <a:ext cx="548640" cy="548640"/>
          </a:xfrm>
          <a:prstGeom prst="ellipse">
            <a:avLst/>
          </a:prstGeom>
          <a:solidFill>
            <a:srgbClr val="2A3676"/>
          </a:solidFill>
          <a:ln/>
        </p:spPr>
      </p:sp>
      <p:pic>
        <p:nvPicPr>
          <p:cNvPr id="10" name="Image 1" descr="/home/claude/banking_os/icons/layer.png"/>
          <p:cNvPicPr>
            <a:picLocks noChangeAspect="1"/>
          </p:cNvPicPr>
          <p:nvPr/>
        </p:nvPicPr>
        <p:blipFill>
          <a:blip r:embed="rId4"/>
          <a:stretch>
            <a:fillRect/>
          </a:stretch>
        </p:blipFill>
        <p:spPr>
          <a:xfrm>
            <a:off x="672084" y="2775204"/>
            <a:ext cx="301752" cy="301752"/>
          </a:xfrm>
          <a:prstGeom prst="rect">
            <a:avLst/>
          </a:prstGeom>
        </p:spPr>
      </p:pic>
      <p:sp>
        <p:nvSpPr>
          <p:cNvPr id="11" name="Text 7"/>
          <p:cNvSpPr/>
          <p:nvPr/>
        </p:nvSpPr>
        <p:spPr>
          <a:xfrm>
            <a:off x="1280160" y="2606040"/>
            <a:ext cx="10241280" cy="822960"/>
          </a:xfrm>
          <a:prstGeom prst="rect">
            <a:avLst/>
          </a:prstGeom>
          <a:noFill/>
          <a:ln/>
        </p:spPr>
        <p:txBody>
          <a:bodyPr wrap="square" rtlCol="0" anchor="ctr"/>
          <a:lstStyle/>
          <a:p>
            <a:pPr marL="0" indent="0">
              <a:lnSpc>
                <a:spcPct val="115000"/>
              </a:lnSpc>
              <a:buNone/>
            </a:pPr>
            <a:r>
              <a:rPr lang="en-US" sz="1600" dirty="0">
                <a:latin typeface="Calibri" pitchFamily="34" charset="0"/>
                <a:ea typeface="Calibri" pitchFamily="34" charset="-122"/>
                <a:cs typeface="Calibri" pitchFamily="34" charset="-120"/>
              </a:rPr>
              <a:t>Hybrid Kernel Architecture provides the performance, security, and scalability that banking demands.</a:t>
            </a:r>
            <a:endParaRPr lang="en-US" sz="1600" dirty="0"/>
          </a:p>
        </p:txBody>
      </p:sp>
      <p:sp>
        <p:nvSpPr>
          <p:cNvPr id="12" name="Shape 8"/>
          <p:cNvSpPr/>
          <p:nvPr/>
        </p:nvSpPr>
        <p:spPr>
          <a:xfrm>
            <a:off x="548640" y="3611880"/>
            <a:ext cx="548640" cy="548640"/>
          </a:xfrm>
          <a:prstGeom prst="ellipse">
            <a:avLst/>
          </a:prstGeom>
          <a:solidFill>
            <a:srgbClr val="2A3676"/>
          </a:solidFill>
          <a:ln/>
        </p:spPr>
      </p:sp>
      <p:pic>
        <p:nvPicPr>
          <p:cNvPr id="13" name="Image 2" descr="/home/claude/banking_os/icons/code.png"/>
          <p:cNvPicPr>
            <a:picLocks noChangeAspect="1"/>
          </p:cNvPicPr>
          <p:nvPr/>
        </p:nvPicPr>
        <p:blipFill>
          <a:blip r:embed="rId5"/>
          <a:stretch>
            <a:fillRect/>
          </a:stretch>
        </p:blipFill>
        <p:spPr>
          <a:xfrm>
            <a:off x="672084" y="3735324"/>
            <a:ext cx="301752" cy="301752"/>
          </a:xfrm>
          <a:prstGeom prst="rect">
            <a:avLst/>
          </a:prstGeom>
        </p:spPr>
      </p:pic>
      <p:sp>
        <p:nvSpPr>
          <p:cNvPr id="14" name="Text 9"/>
          <p:cNvSpPr/>
          <p:nvPr/>
        </p:nvSpPr>
        <p:spPr>
          <a:xfrm>
            <a:off x="1280160" y="3566160"/>
            <a:ext cx="10241280" cy="822960"/>
          </a:xfrm>
          <a:prstGeom prst="rect">
            <a:avLst/>
          </a:prstGeom>
          <a:noFill/>
          <a:ln/>
        </p:spPr>
        <p:txBody>
          <a:bodyPr wrap="square" rtlCol="0" anchor="ctr"/>
          <a:lstStyle/>
          <a:p>
            <a:pPr marL="0" indent="0">
              <a:lnSpc>
                <a:spcPct val="115000"/>
              </a:lnSpc>
              <a:buNone/>
            </a:pPr>
            <a:r>
              <a:rPr lang="en-US" sz="1600" dirty="0">
                <a:latin typeface="Calibri" pitchFamily="34" charset="0"/>
                <a:ea typeface="Calibri" pitchFamily="34" charset="-122"/>
                <a:cs typeface="Calibri" pitchFamily="34" charset="-120"/>
              </a:rPr>
              <a:t>System calls enable secure, controlled communication between banking applications and the operating system.</a:t>
            </a:r>
            <a:endParaRPr lang="en-US" sz="1600" dirty="0"/>
          </a:p>
        </p:txBody>
      </p:sp>
      <p:sp>
        <p:nvSpPr>
          <p:cNvPr id="15" name="Shape 10"/>
          <p:cNvSpPr/>
          <p:nvPr/>
        </p:nvSpPr>
        <p:spPr>
          <a:xfrm>
            <a:off x="548640" y="4572000"/>
            <a:ext cx="548640" cy="548640"/>
          </a:xfrm>
          <a:prstGeom prst="ellipse">
            <a:avLst/>
          </a:prstGeom>
          <a:solidFill>
            <a:srgbClr val="2A3676"/>
          </a:solidFill>
          <a:ln/>
        </p:spPr>
      </p:sp>
      <p:pic>
        <p:nvPicPr>
          <p:cNvPr id="16" name="Image 3" descr="/home/claude/banking_os/icons/checkcircle.png"/>
          <p:cNvPicPr>
            <a:picLocks noChangeAspect="1"/>
          </p:cNvPicPr>
          <p:nvPr/>
        </p:nvPicPr>
        <p:blipFill>
          <a:blip r:embed="rId6"/>
          <a:stretch>
            <a:fillRect/>
          </a:stretch>
        </p:blipFill>
        <p:spPr>
          <a:xfrm>
            <a:off x="672084" y="4695444"/>
            <a:ext cx="301752" cy="301752"/>
          </a:xfrm>
          <a:prstGeom prst="rect">
            <a:avLst/>
          </a:prstGeom>
        </p:spPr>
      </p:pic>
      <p:sp>
        <p:nvSpPr>
          <p:cNvPr id="17" name="Text 11"/>
          <p:cNvSpPr/>
          <p:nvPr/>
        </p:nvSpPr>
        <p:spPr>
          <a:xfrm>
            <a:off x="1280160" y="4526280"/>
            <a:ext cx="10241280" cy="822960"/>
          </a:xfrm>
          <a:prstGeom prst="rect">
            <a:avLst/>
          </a:prstGeom>
          <a:noFill/>
          <a:ln/>
        </p:spPr>
        <p:txBody>
          <a:bodyPr wrap="square" rtlCol="0" anchor="ctr"/>
          <a:lstStyle/>
          <a:p>
            <a:pPr marL="0" indent="0">
              <a:lnSpc>
                <a:spcPct val="115000"/>
              </a:lnSpc>
              <a:buNone/>
            </a:pPr>
            <a:r>
              <a:rPr lang="en-US" dirty="0">
                <a:latin typeface="Calibri" pitchFamily="34" charset="0"/>
                <a:ea typeface="Calibri" pitchFamily="34" charset="-122"/>
                <a:cs typeface="Calibri" pitchFamily="34" charset="-120"/>
              </a:rPr>
              <a:t>Efficient operating systems ensure fast, reliable, and secure transaction processing for every customer, every time.</a:t>
            </a:r>
            <a:endParaRPr lang="en-US" dirty="0"/>
          </a:p>
        </p:txBody>
      </p:sp>
      <p:sp>
        <p:nvSpPr>
          <p:cNvPr id="18" name="Shape 12"/>
          <p:cNvSpPr/>
          <p:nvPr/>
        </p:nvSpPr>
        <p:spPr>
          <a:xfrm>
            <a:off x="548640" y="5623560"/>
            <a:ext cx="11064240" cy="18288"/>
          </a:xfrm>
          <a:prstGeom prst="rect">
            <a:avLst/>
          </a:prstGeom>
          <a:solidFill>
            <a:srgbClr val="3A4590"/>
          </a:solidFill>
          <a:ln/>
        </p:spPr>
      </p:sp>
      <p:sp>
        <p:nvSpPr>
          <p:cNvPr id="19" name="Text 13"/>
          <p:cNvSpPr/>
          <p:nvPr/>
        </p:nvSpPr>
        <p:spPr>
          <a:xfrm>
            <a:off x="548640" y="5806440"/>
            <a:ext cx="7315200" cy="640080"/>
          </a:xfrm>
          <a:prstGeom prst="rect">
            <a:avLst/>
          </a:prstGeom>
          <a:noFill/>
          <a:ln/>
        </p:spPr>
        <p:txBody>
          <a:bodyPr wrap="square" rtlCol="0" anchor="ctr"/>
          <a:lstStyle/>
          <a:p>
            <a:pPr marL="0" indent="0">
              <a:buNone/>
            </a:pPr>
            <a:r>
              <a:rPr lang="en-US" b="1" dirty="0">
                <a:solidFill>
                  <a:srgbClr val="0070C0"/>
                </a:solidFill>
                <a:latin typeface="Calibri" pitchFamily="34" charset="0"/>
                <a:ea typeface="Calibri" pitchFamily="34" charset="-122"/>
                <a:cs typeface="Calibri" pitchFamily="34" charset="-120"/>
              </a:rPr>
              <a:t>Thank You</a:t>
            </a:r>
            <a:endParaRPr lang="en-US" dirty="0">
              <a:solidFill>
                <a:srgbClr val="0070C0"/>
              </a:solidFill>
            </a:endParaRPr>
          </a:p>
        </p:txBody>
      </p:sp>
      <p:sp>
        <p:nvSpPr>
          <p:cNvPr id="20" name="Text 14"/>
          <p:cNvSpPr/>
          <p:nvPr/>
        </p:nvSpPr>
        <p:spPr>
          <a:xfrm>
            <a:off x="548640" y="6355080"/>
            <a:ext cx="7315200" cy="320040"/>
          </a:xfrm>
          <a:prstGeom prst="rect">
            <a:avLst/>
          </a:prstGeom>
          <a:noFill/>
          <a:ln/>
        </p:spPr>
        <p:txBody>
          <a:bodyPr wrap="square" rtlCol="0" anchor="ctr"/>
          <a:lstStyle/>
          <a:p>
            <a:pPr marL="0" indent="0">
              <a:buNone/>
            </a:pPr>
            <a:r>
              <a:rPr lang="en-US" dirty="0">
                <a:solidFill>
                  <a:srgbClr val="0070C0"/>
                </a:solidFill>
                <a:latin typeface="Calibri" pitchFamily="34" charset="0"/>
                <a:ea typeface="Calibri" pitchFamily="34" charset="-122"/>
                <a:cs typeface="Calibri" pitchFamily="34" charset="-120"/>
              </a:rPr>
              <a:t>N. Vamsi Krishna  ·  192472011  ·  SIMATS Engineering</a:t>
            </a:r>
            <a:endParaRPr lang="en-US" dirty="0">
              <a:solidFill>
                <a:srgbClr val="0070C0"/>
              </a:solidFill>
            </a:endParaRPr>
          </a:p>
        </p:txBody>
      </p:sp>
      <p:pic>
        <p:nvPicPr>
          <p:cNvPr id="21" name="Image 4" descr="/home/claude/banking_os/icons/university.png"/>
          <p:cNvPicPr>
            <a:picLocks noChangeAspect="1"/>
          </p:cNvPicPr>
          <p:nvPr/>
        </p:nvPicPr>
        <p:blipFill>
          <a:blip r:embed="rId7"/>
          <a:stretch>
            <a:fillRect/>
          </a:stretch>
        </p:blipFill>
        <p:spPr>
          <a:xfrm>
            <a:off x="10881360" y="5806440"/>
            <a:ext cx="640080" cy="640080"/>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108</TotalTime>
  <Words>2402</Words>
  <Application>Microsoft Office PowerPoint</Application>
  <PresentationFormat>Widescreen</PresentationFormat>
  <Paragraphs>199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Courier New</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vamsi Krishna</cp:lastModifiedBy>
  <cp:revision>5</cp:revision>
  <dcterms:created xsi:type="dcterms:W3CDTF">2026-07-20T11:16:25Z</dcterms:created>
  <dcterms:modified xsi:type="dcterms:W3CDTF">2026-07-21T05:31:07Z</dcterms:modified>
</cp:coreProperties>
</file>